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7FE3F-3842-0F1D-B288-0947602063CE}" v="1201" dt="2025-11-05T22:15:00.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6921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01769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12/18/2025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81879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88040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12/18/2025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98255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12/18/2025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53124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12/18/2025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95033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12/18/2025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63828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12/18/2025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74694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12/18/2025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947729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12/18/2025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85310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12/18/2025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21994851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686AA91C-C35E-D39A-26C7-A1E808F55790}"/>
              </a:ext>
            </a:extLst>
          </p:cNvPr>
          <p:cNvPicPr>
            <a:picLocks noChangeAspect="1"/>
          </p:cNvPicPr>
          <p:nvPr/>
        </p:nvPicPr>
        <p:blipFill>
          <a:blip r:embed="rId2"/>
          <a:srcRect t="9092" r="9085" b="-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p:cNvSpPr>
            <a:spLocks noGrp="1"/>
          </p:cNvSpPr>
          <p:nvPr>
            <p:ph type="ctrTitle"/>
          </p:nvPr>
        </p:nvSpPr>
        <p:spPr>
          <a:xfrm>
            <a:off x="286506" y="603315"/>
            <a:ext cx="5649211" cy="3685731"/>
          </a:xfrm>
        </p:spPr>
        <p:txBody>
          <a:bodyPr anchor="t">
            <a:normAutofit/>
          </a:bodyPr>
          <a:lstStyle/>
          <a:p>
            <a:pPr algn="l"/>
            <a:r>
              <a:rPr lang="es-ES" sz="6600"/>
              <a:t>Presentación de Avance</a:t>
            </a:r>
            <a:br>
              <a:rPr lang="es-ES" sz="6600"/>
            </a:br>
            <a:r>
              <a:rPr lang="es-ES" sz="6600"/>
              <a:t>Proyecto RL</a:t>
            </a:r>
          </a:p>
        </p:txBody>
      </p:sp>
      <p:sp>
        <p:nvSpPr>
          <p:cNvPr id="3" name="Subtítulo 2"/>
          <p:cNvSpPr>
            <a:spLocks noGrp="1"/>
          </p:cNvSpPr>
          <p:nvPr>
            <p:ph type="subTitle" idx="1"/>
          </p:nvPr>
        </p:nvSpPr>
        <p:spPr>
          <a:xfrm>
            <a:off x="286507" y="4437176"/>
            <a:ext cx="4007587" cy="1290807"/>
          </a:xfrm>
        </p:spPr>
        <p:txBody>
          <a:bodyPr vert="horz" lIns="91440" tIns="45720" rIns="91440" bIns="45720" rtlCol="0" anchor="ctr">
            <a:normAutofit/>
          </a:bodyPr>
          <a:lstStyle/>
          <a:p>
            <a:pPr algn="l"/>
            <a:r>
              <a:rPr lang="es-ES" sz="2200"/>
              <a:t>Pedro Xavier Gajardo Garfe</a:t>
            </a:r>
          </a:p>
          <a:p>
            <a:pPr algn="l"/>
            <a:r>
              <a:rPr lang="es-ES" sz="2200"/>
              <a:t>Prof. Julio Godoy</a:t>
            </a:r>
          </a:p>
        </p:txBody>
      </p:sp>
    </p:spTree>
    <p:extLst>
      <p:ext uri="{BB962C8B-B14F-4D97-AF65-F5344CB8AC3E}">
        <p14:creationId xmlns:p14="http://schemas.microsoft.com/office/powerpoint/2010/main" val="24062731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3095824-EFCF-1337-FB67-4EBDAD4C8C43}"/>
              </a:ext>
            </a:extLst>
          </p:cNvPr>
          <p:cNvSpPr>
            <a:spLocks noGrp="1"/>
          </p:cNvSpPr>
          <p:nvPr>
            <p:ph type="title"/>
          </p:nvPr>
        </p:nvSpPr>
        <p:spPr>
          <a:xfrm>
            <a:off x="5568534" y="603504"/>
            <a:ext cx="5916169" cy="1527048"/>
          </a:xfrm>
        </p:spPr>
        <p:txBody>
          <a:bodyPr anchor="b">
            <a:normAutofit/>
          </a:bodyPr>
          <a:lstStyle/>
          <a:p>
            <a:r>
              <a:rPr lang="es-ES" dirty="0"/>
              <a:t>Resumen del Problema</a:t>
            </a:r>
          </a:p>
        </p:txBody>
      </p:sp>
      <p:pic>
        <p:nvPicPr>
          <p:cNvPr id="4" name="Imagen 3" descr="🧟 Knights Archers &amp; Zombies with IPPO - RL">
            <a:extLst>
              <a:ext uri="{FF2B5EF4-FFF2-40B4-BE49-F238E27FC236}">
                <a16:creationId xmlns:a16="http://schemas.microsoft.com/office/drawing/2014/main" id="{646B7317-6110-7D61-130C-91AE36061D6B}"/>
              </a:ext>
            </a:extLst>
          </p:cNvPr>
          <p:cNvPicPr>
            <a:picLocks noChangeAspect="1"/>
          </p:cNvPicPr>
          <p:nvPr/>
        </p:nvPicPr>
        <p:blipFill>
          <a:blip r:embed="rId2"/>
          <a:srcRect r="59904"/>
          <a:stretch>
            <a:fillRect/>
          </a:stretch>
        </p:blipFill>
        <p:spPr>
          <a:xfrm>
            <a:off x="20" y="10"/>
            <a:ext cx="4910308" cy="6857990"/>
          </a:xfrm>
          <a:prstGeom prst="rect">
            <a:avLst/>
          </a:prstGeom>
        </p:spPr>
      </p:pic>
      <p:sp>
        <p:nvSpPr>
          <p:cNvPr id="3" name="Marcador de contenido 2">
            <a:extLst>
              <a:ext uri="{FF2B5EF4-FFF2-40B4-BE49-F238E27FC236}">
                <a16:creationId xmlns:a16="http://schemas.microsoft.com/office/drawing/2014/main" id="{5442664D-35C7-9173-72CB-29CE12FC8F51}"/>
              </a:ext>
            </a:extLst>
          </p:cNvPr>
          <p:cNvSpPr>
            <a:spLocks noGrp="1"/>
          </p:cNvSpPr>
          <p:nvPr>
            <p:ph idx="1"/>
          </p:nvPr>
        </p:nvSpPr>
        <p:spPr>
          <a:xfrm>
            <a:off x="5568533" y="2214282"/>
            <a:ext cx="5916169" cy="4095078"/>
          </a:xfrm>
        </p:spPr>
        <p:txBody>
          <a:bodyPr vert="horz" lIns="91440" tIns="45720" rIns="91440" bIns="45720" rtlCol="0" anchor="t">
            <a:normAutofit/>
          </a:bodyPr>
          <a:lstStyle/>
          <a:p>
            <a:pPr algn="just"/>
            <a:r>
              <a:rPr lang="es-ES" sz="1800"/>
              <a:t>Tal como se explicó en la primera presentación, </a:t>
            </a:r>
            <a:r>
              <a:rPr lang="es-ES" sz="1800" err="1"/>
              <a:t>Knights</a:t>
            </a:r>
            <a:r>
              <a:rPr lang="es-ES" sz="1800"/>
              <a:t>, </a:t>
            </a:r>
            <a:r>
              <a:rPr lang="es-ES" sz="1800" err="1"/>
              <a:t>Archers</a:t>
            </a:r>
            <a:r>
              <a:rPr lang="es-ES" sz="1800"/>
              <a:t>, </a:t>
            </a:r>
            <a:r>
              <a:rPr lang="es-ES" sz="1800" err="1"/>
              <a:t>Zombies</a:t>
            </a:r>
            <a:r>
              <a:rPr lang="es-ES" sz="1800"/>
              <a:t>; o mejor conocido por sus siglas, KAZ, es un juego de </a:t>
            </a:r>
            <a:r>
              <a:rPr lang="es-ES" sz="1800" err="1"/>
              <a:t>petting</a:t>
            </a:r>
            <a:r>
              <a:rPr lang="es-ES" sz="1800"/>
              <a:t> zoo en el cual dos caballeros y dos arqueros deben sobrevivir a los </a:t>
            </a:r>
            <a:r>
              <a:rPr lang="es-ES" sz="1800" err="1"/>
              <a:t>zombies</a:t>
            </a:r>
            <a:r>
              <a:rPr lang="es-ES" sz="1800"/>
              <a:t> por el mayor tiempo posible. Lo que se busca en esto es comparar dos tipos diferentes de </a:t>
            </a:r>
            <a:r>
              <a:rPr lang="es-ES" sz="1800" err="1"/>
              <a:t>approach</a:t>
            </a:r>
            <a:r>
              <a:rPr lang="es-ES" sz="1800"/>
              <a:t> al problema, una con y otra sin cooperación entre las tropas.</a:t>
            </a:r>
            <a:endParaRPr lang="es-ES"/>
          </a:p>
        </p:txBody>
      </p:sp>
    </p:spTree>
    <p:extLst>
      <p:ext uri="{BB962C8B-B14F-4D97-AF65-F5344CB8AC3E}">
        <p14:creationId xmlns:p14="http://schemas.microsoft.com/office/powerpoint/2010/main" val="3833373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8D979E-C0E8-1803-14E4-19C4571F6346}"/>
              </a:ext>
            </a:extLst>
          </p:cNvPr>
          <p:cNvSpPr>
            <a:spLocks noGrp="1"/>
          </p:cNvSpPr>
          <p:nvPr>
            <p:ph type="title"/>
          </p:nvPr>
        </p:nvSpPr>
        <p:spPr/>
        <p:txBody>
          <a:bodyPr/>
          <a:lstStyle/>
          <a:p>
            <a:r>
              <a:rPr lang="es-ES" dirty="0"/>
              <a:t>Métodos implementados hasta la fecha y resultados actuales</a:t>
            </a:r>
          </a:p>
        </p:txBody>
      </p:sp>
      <p:sp>
        <p:nvSpPr>
          <p:cNvPr id="3" name="Marcador de contenido 2">
            <a:extLst>
              <a:ext uri="{FF2B5EF4-FFF2-40B4-BE49-F238E27FC236}">
                <a16:creationId xmlns:a16="http://schemas.microsoft.com/office/drawing/2014/main" id="{E79E00CB-A693-A1BD-B9B6-A57B6638E913}"/>
              </a:ext>
            </a:extLst>
          </p:cNvPr>
          <p:cNvSpPr>
            <a:spLocks noGrp="1"/>
          </p:cNvSpPr>
          <p:nvPr>
            <p:ph idx="1"/>
          </p:nvPr>
        </p:nvSpPr>
        <p:spPr/>
        <p:txBody>
          <a:bodyPr vert="horz" lIns="91440" tIns="45720" rIns="91440" bIns="45720" rtlCol="0" anchor="t">
            <a:normAutofit/>
          </a:bodyPr>
          <a:lstStyle/>
          <a:p>
            <a:pPr algn="just"/>
            <a:r>
              <a:rPr lang="es-ES" dirty="0"/>
              <a:t>Actualmente, se han realizado 10 millones de </a:t>
            </a:r>
            <a:r>
              <a:rPr lang="es-ES" dirty="0" err="1"/>
              <a:t>steps</a:t>
            </a:r>
            <a:r>
              <a:rPr lang="es-ES" dirty="0"/>
              <a:t> de entrenamiento para el modo con cooperación, notando ciertas mejoras respecto de las formas de actuar de las tropas.</a:t>
            </a:r>
            <a:endParaRPr lang="es-ES"/>
          </a:p>
          <a:p>
            <a:pPr algn="just"/>
            <a:r>
              <a:rPr lang="es-ES" dirty="0"/>
              <a:t>A la izquierda podemos ver las recompensas durante la primera sesión de entrenamiento, mientras que a la derecha la última hecha.</a:t>
            </a:r>
          </a:p>
        </p:txBody>
      </p:sp>
      <p:pic>
        <p:nvPicPr>
          <p:cNvPr id="5" name="Imagen 4" descr="Gráfico&#10;&#10;El contenido generado por IA puede ser incorrecto.">
            <a:extLst>
              <a:ext uri="{FF2B5EF4-FFF2-40B4-BE49-F238E27FC236}">
                <a16:creationId xmlns:a16="http://schemas.microsoft.com/office/drawing/2014/main" id="{38220075-328E-5604-C90E-3C514FD2E3B1}"/>
              </a:ext>
            </a:extLst>
          </p:cNvPr>
          <p:cNvPicPr>
            <a:picLocks noChangeAspect="1"/>
          </p:cNvPicPr>
          <p:nvPr/>
        </p:nvPicPr>
        <p:blipFill>
          <a:blip r:embed="rId2"/>
          <a:stretch>
            <a:fillRect/>
          </a:stretch>
        </p:blipFill>
        <p:spPr>
          <a:xfrm>
            <a:off x="6504879" y="3428999"/>
            <a:ext cx="4432610" cy="3326781"/>
          </a:xfrm>
          <a:prstGeom prst="rect">
            <a:avLst/>
          </a:prstGeom>
        </p:spPr>
      </p:pic>
      <p:pic>
        <p:nvPicPr>
          <p:cNvPr id="6" name="Imagen 5" descr="Gráfico&#10;&#10;El contenido generado por IA puede ser incorrecto.">
            <a:extLst>
              <a:ext uri="{FF2B5EF4-FFF2-40B4-BE49-F238E27FC236}">
                <a16:creationId xmlns:a16="http://schemas.microsoft.com/office/drawing/2014/main" id="{EA236AC8-0CB0-C84E-A050-7AB84E6EF14C}"/>
              </a:ext>
            </a:extLst>
          </p:cNvPr>
          <p:cNvPicPr>
            <a:picLocks noChangeAspect="1"/>
          </p:cNvPicPr>
          <p:nvPr/>
        </p:nvPicPr>
        <p:blipFill>
          <a:blip r:embed="rId3"/>
          <a:stretch>
            <a:fillRect/>
          </a:stretch>
        </p:blipFill>
        <p:spPr>
          <a:xfrm>
            <a:off x="780585" y="3428999"/>
            <a:ext cx="4544122" cy="3336074"/>
          </a:xfrm>
          <a:prstGeom prst="rect">
            <a:avLst/>
          </a:prstGeom>
        </p:spPr>
      </p:pic>
    </p:spTree>
    <p:extLst>
      <p:ext uri="{BB962C8B-B14F-4D97-AF65-F5344CB8AC3E}">
        <p14:creationId xmlns:p14="http://schemas.microsoft.com/office/powerpoint/2010/main" val="283412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00F71C-833E-A5CC-A646-E2B75CFE2F1A}"/>
              </a:ext>
            </a:extLst>
          </p:cNvPr>
          <p:cNvSpPr>
            <a:spLocks noGrp="1"/>
          </p:cNvSpPr>
          <p:nvPr>
            <p:ph type="title"/>
          </p:nvPr>
        </p:nvSpPr>
        <p:spPr/>
        <p:txBody>
          <a:bodyPr/>
          <a:lstStyle/>
          <a:p>
            <a:r>
              <a:rPr lang="es-ES" dirty="0"/>
              <a:t>Aprendizajes</a:t>
            </a:r>
          </a:p>
        </p:txBody>
      </p:sp>
      <p:sp>
        <p:nvSpPr>
          <p:cNvPr id="3" name="Marcador de contenido 2">
            <a:extLst>
              <a:ext uri="{FF2B5EF4-FFF2-40B4-BE49-F238E27FC236}">
                <a16:creationId xmlns:a16="http://schemas.microsoft.com/office/drawing/2014/main" id="{DDB8471C-CFAB-3F1C-86CC-7342B19B71B5}"/>
              </a:ext>
            </a:extLst>
          </p:cNvPr>
          <p:cNvSpPr>
            <a:spLocks noGrp="1"/>
          </p:cNvSpPr>
          <p:nvPr>
            <p:ph idx="1"/>
          </p:nvPr>
        </p:nvSpPr>
        <p:spPr/>
        <p:txBody>
          <a:bodyPr vert="horz" lIns="91440" tIns="45720" rIns="91440" bIns="45720" rtlCol="0" anchor="t">
            <a:normAutofit/>
          </a:bodyPr>
          <a:lstStyle/>
          <a:p>
            <a:pPr algn="just"/>
            <a:r>
              <a:rPr lang="es-ES" dirty="0"/>
              <a:t>Al principio, se intentó hacer con configuraciones de menor optimización para el entrenamiento, ya que el ambiente de KAZ no es simple al haber muchas cosas ocurriendo al mismo tiempo, los resultados no fueron buenos. Ante eso, se cambió el </a:t>
            </a:r>
            <a:r>
              <a:rPr lang="es-ES" err="1"/>
              <a:t>batch</a:t>
            </a:r>
            <a:r>
              <a:rPr lang="es-ES" dirty="0"/>
              <a:t> </a:t>
            </a:r>
            <a:r>
              <a:rPr lang="es-ES" err="1"/>
              <a:t>size</a:t>
            </a:r>
            <a:r>
              <a:rPr lang="es-ES" dirty="0"/>
              <a:t> (para una mejor convergencia), el total de pasos se aumentó para conseguir mejores resultados por sesión de entrenamiento. Lo cual demostró una mejoría notable en el comportamiento de los agentes.</a:t>
            </a:r>
            <a:endParaRPr lang="es-ES"/>
          </a:p>
        </p:txBody>
      </p:sp>
    </p:spTree>
    <p:extLst>
      <p:ext uri="{BB962C8B-B14F-4D97-AF65-F5344CB8AC3E}">
        <p14:creationId xmlns:p14="http://schemas.microsoft.com/office/powerpoint/2010/main" val="2413787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F4916-3673-AB30-E53E-19245A7597C4}"/>
              </a:ext>
            </a:extLst>
          </p:cNvPr>
          <p:cNvSpPr>
            <a:spLocks noGrp="1"/>
          </p:cNvSpPr>
          <p:nvPr>
            <p:ph type="title"/>
          </p:nvPr>
        </p:nvSpPr>
        <p:spPr/>
        <p:txBody>
          <a:bodyPr/>
          <a:lstStyle/>
          <a:p>
            <a:r>
              <a:rPr lang="es-ES" dirty="0"/>
              <a:t>Planificación restante</a:t>
            </a:r>
          </a:p>
        </p:txBody>
      </p:sp>
      <p:sp>
        <p:nvSpPr>
          <p:cNvPr id="3" name="Marcador de contenido 2">
            <a:extLst>
              <a:ext uri="{FF2B5EF4-FFF2-40B4-BE49-F238E27FC236}">
                <a16:creationId xmlns:a16="http://schemas.microsoft.com/office/drawing/2014/main" id="{992431FA-71FE-05A0-DDA6-CBB3A8D0B733}"/>
              </a:ext>
            </a:extLst>
          </p:cNvPr>
          <p:cNvSpPr>
            <a:spLocks noGrp="1"/>
          </p:cNvSpPr>
          <p:nvPr>
            <p:ph idx="1"/>
          </p:nvPr>
        </p:nvSpPr>
        <p:spPr/>
        <p:txBody>
          <a:bodyPr vert="horz" lIns="91440" tIns="45720" rIns="91440" bIns="45720" rtlCol="0" anchor="t">
            <a:normAutofit/>
          </a:bodyPr>
          <a:lstStyle/>
          <a:p>
            <a:pPr algn="just"/>
            <a:r>
              <a:rPr lang="es-ES" dirty="0"/>
              <a:t>En las semanas restantes antes de la presentación, se planea realizar la versión con cooperación (basándose en lo aprendido en la versión sin cooperación) para luego comparar resultados entre ambas versiones. También, sería ideal poder hacer una prueba de supervivencia (hasta la primera muerte) de ambos agentes para así comparar si efectivamente la versión cooperativa es mucho mejor que la versión más azarosa. </a:t>
            </a:r>
          </a:p>
        </p:txBody>
      </p:sp>
    </p:spTree>
    <p:extLst>
      <p:ext uri="{BB962C8B-B14F-4D97-AF65-F5344CB8AC3E}">
        <p14:creationId xmlns:p14="http://schemas.microsoft.com/office/powerpoint/2010/main" val="397152369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5</Slides>
  <Notes>0</Notes>
  <HiddenSlides>0</HiddenSlides>
  <MMClips>0</MMClips>
  <ScaleCrop>false</ScaleCrop>
  <HeadingPairs>
    <vt:vector size="4" baseType="variant">
      <vt:variant>
        <vt:lpstr>Tema</vt:lpstr>
      </vt:variant>
      <vt:variant>
        <vt:i4>1</vt:i4>
      </vt:variant>
      <vt:variant>
        <vt:lpstr>Títulos de diapositiva</vt:lpstr>
      </vt:variant>
      <vt:variant>
        <vt:i4>5</vt:i4>
      </vt:variant>
    </vt:vector>
  </HeadingPairs>
  <TitlesOfParts>
    <vt:vector size="6" baseType="lpstr">
      <vt:lpstr>VanillaVTI</vt:lpstr>
      <vt:lpstr>Presentación de Avance Proyecto RL</vt:lpstr>
      <vt:lpstr>Resumen del Problema</vt:lpstr>
      <vt:lpstr>Métodos implementados hasta la fecha y resultados actuales</vt:lpstr>
      <vt:lpstr>Aprendizajes</vt:lpstr>
      <vt:lpstr>Planificación restante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100</cp:revision>
  <dcterms:created xsi:type="dcterms:W3CDTF">2025-11-05T21:54:27Z</dcterms:created>
  <dcterms:modified xsi:type="dcterms:W3CDTF">2025-12-18T22:01:47Z</dcterms:modified>
</cp:coreProperties>
</file>