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60" r:id="rId5"/>
    <p:sldId id="259" r:id="rId6"/>
    <p:sldId id="261" r:id="rId7"/>
    <p:sldId id="262" r:id="rId8"/>
    <p:sldId id="263" r:id="rId9"/>
    <p:sldId id="264" r:id="rId1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0C976-B58B-1EC8-08D9-DCC2EB722DBA}" v="1901" dt="2025-12-18T02:40:22.962"/>
    <p1510:client id="{7906F44B-D33C-12A6-C93A-894D9348895B}" v="216" dt="2025-12-18T15:16:50.296"/>
    <p1510:client id="{D00B090D-233F-5386-42FA-EA41AC131D9E}" v="226" dt="2025-12-18T14:04:41.86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E0CD49-DBED-4C15-A65C-42CF0E896B2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77C54BA-BA0F-4A99-9C41-0D10400A4D5F}">
      <dgm:prSet/>
      <dgm:spPr/>
      <dgm:t>
        <a:bodyPr/>
        <a:lstStyle/>
        <a:p>
          <a:pPr algn="l">
            <a:lnSpc>
              <a:spcPct val="90000"/>
            </a:lnSpc>
          </a:pPr>
          <a:r>
            <a:rPr lang="es-ES" sz="1700">
              <a:solidFill>
                <a:srgbClr val="000000"/>
              </a:solidFill>
              <a:ea typeface="+mn-ea"/>
              <a:cs typeface="+mn-cs"/>
            </a:rPr>
            <a:t>Durante este proyecto se presentaron varios problemas, acá algunos de ellos, si bien no está mencionado en la pauta, es importante decirlo:</a:t>
          </a:r>
          <a:endParaRPr lang="en-US" sz="1700">
            <a:solidFill>
              <a:srgbClr val="000000"/>
            </a:solidFill>
            <a:ea typeface="+mn-ea"/>
            <a:cs typeface="+mn-cs"/>
          </a:endParaRPr>
        </a:p>
      </dgm:t>
    </dgm:pt>
    <dgm:pt modelId="{444C283D-2976-4A5B-BD19-7107B822C2E8}" type="parTrans" cxnId="{476EDA7F-489D-44F1-A733-8AB9195EE1AE}">
      <dgm:prSet/>
      <dgm:spPr/>
      <dgm:t>
        <a:bodyPr/>
        <a:lstStyle/>
        <a:p>
          <a:endParaRPr lang="en-US"/>
        </a:p>
      </dgm:t>
    </dgm:pt>
    <dgm:pt modelId="{85A2FC5E-C216-43A2-9AE1-1390CAFDDA47}" type="sibTrans" cxnId="{476EDA7F-489D-44F1-A733-8AB9195EE1AE}">
      <dgm:prSet/>
      <dgm:spPr/>
      <dgm:t>
        <a:bodyPr/>
        <a:lstStyle/>
        <a:p>
          <a:endParaRPr lang="en-US"/>
        </a:p>
      </dgm:t>
    </dgm:pt>
    <dgm:pt modelId="{48133A5D-9382-44EE-AE64-542E4C42CF40}">
      <dgm:prSet/>
      <dgm:spPr/>
      <dgm:t>
        <a:bodyPr/>
        <a:lstStyle/>
        <a:p>
          <a:pPr algn="l" rtl="0">
            <a:lnSpc>
              <a:spcPct val="90000"/>
            </a:lnSpc>
          </a:pPr>
          <a:r>
            <a:rPr lang="es-ES" sz="1700" dirty="0">
              <a:solidFill>
                <a:srgbClr val="000000"/>
              </a:solidFill>
              <a:ea typeface="+mn-ea"/>
              <a:cs typeface="+mn-cs"/>
            </a:rPr>
            <a:t>Tiempos de entrenamiento extremadamente largos (Alrededor de 8 horas por sesión ya que se entrenaban 2 millones de </a:t>
          </a:r>
          <a:r>
            <a:rPr lang="es-ES" sz="1700" dirty="0" err="1">
              <a:solidFill>
                <a:srgbClr val="000000"/>
              </a:solidFill>
              <a:ea typeface="+mn-ea"/>
              <a:cs typeface="+mn-cs"/>
            </a:rPr>
            <a:t>steps</a:t>
          </a:r>
          <a:r>
            <a:rPr lang="es-ES" sz="1700" dirty="0">
              <a:solidFill>
                <a:srgbClr val="000000"/>
              </a:solidFill>
              <a:ea typeface="+mn-ea"/>
              <a:cs typeface="+mn-cs"/>
            </a:rPr>
            <a:t> 4 veces, </a:t>
          </a:r>
          <a:r>
            <a:rPr lang="es-ES" sz="1700" dirty="0" err="1">
              <a:solidFill>
                <a:srgbClr val="000000"/>
              </a:solidFill>
              <a:ea typeface="+mn-ea"/>
              <a:cs typeface="+mn-cs"/>
            </a:rPr>
            <a:t>osea</a:t>
          </a:r>
          <a:r>
            <a:rPr lang="es-ES" sz="1700" dirty="0">
              <a:solidFill>
                <a:srgbClr val="000000"/>
              </a:solidFill>
              <a:ea typeface="+mn-ea"/>
              <a:cs typeface="+mn-cs"/>
            </a:rPr>
            <a:t> 8 millones de </a:t>
          </a:r>
          <a:r>
            <a:rPr lang="es-ES" sz="1700" dirty="0" err="1">
              <a:solidFill>
                <a:srgbClr val="000000"/>
              </a:solidFill>
              <a:ea typeface="+mn-ea"/>
              <a:cs typeface="+mn-cs"/>
            </a:rPr>
            <a:t>steps</a:t>
          </a:r>
          <a:r>
            <a:rPr lang="es-ES" sz="1700" dirty="0">
              <a:solidFill>
                <a:srgbClr val="000000"/>
              </a:solidFill>
              <a:ea typeface="+mn-ea"/>
              <a:cs typeface="+mn-cs"/>
            </a:rPr>
            <a:t>, es decir, en total se entrenaron 4*10 = 40 millones de </a:t>
          </a:r>
          <a:r>
            <a:rPr lang="es-ES" sz="1700" dirty="0" err="1">
              <a:solidFill>
                <a:srgbClr val="000000"/>
              </a:solidFill>
              <a:ea typeface="+mn-ea"/>
              <a:cs typeface="+mn-cs"/>
            </a:rPr>
            <a:t>Steps</a:t>
          </a:r>
          <a:r>
            <a:rPr lang="es-ES" sz="1700" dirty="0">
              <a:solidFill>
                <a:srgbClr val="000000"/>
              </a:solidFill>
              <a:latin typeface="Grandview Display"/>
              <a:ea typeface="+mn-ea"/>
              <a:cs typeface="+mn-cs"/>
            </a:rPr>
            <a:t>, 10 millones cada agente)</a:t>
          </a:r>
          <a:endParaRPr lang="en-US" sz="1700" dirty="0">
            <a:solidFill>
              <a:srgbClr val="000000"/>
            </a:solidFill>
            <a:ea typeface="+mn-ea"/>
            <a:cs typeface="+mn-cs"/>
          </a:endParaRPr>
        </a:p>
      </dgm:t>
    </dgm:pt>
    <dgm:pt modelId="{55D7AED6-1B28-4F87-B9A1-D05E665A6615}" type="parTrans" cxnId="{7B9AA16B-ADD4-477D-8655-0824C034B242}">
      <dgm:prSet/>
      <dgm:spPr/>
      <dgm:t>
        <a:bodyPr/>
        <a:lstStyle/>
        <a:p>
          <a:endParaRPr lang="en-US"/>
        </a:p>
      </dgm:t>
    </dgm:pt>
    <dgm:pt modelId="{64542165-5589-4017-A4B8-2BDBB09BAB7C}" type="sibTrans" cxnId="{7B9AA16B-ADD4-477D-8655-0824C034B242}">
      <dgm:prSet/>
      <dgm:spPr/>
      <dgm:t>
        <a:bodyPr/>
        <a:lstStyle/>
        <a:p>
          <a:endParaRPr lang="en-US"/>
        </a:p>
      </dgm:t>
    </dgm:pt>
    <dgm:pt modelId="{A88FB386-0D64-417F-A2B6-3231A89C7971}">
      <dgm:prSet/>
      <dgm:spPr/>
      <dgm:t>
        <a:bodyPr/>
        <a:lstStyle/>
        <a:p>
          <a:pPr algn="l">
            <a:lnSpc>
              <a:spcPct val="90000"/>
            </a:lnSpc>
          </a:pPr>
          <a:r>
            <a:rPr lang="es-ES" sz="1700">
              <a:solidFill>
                <a:srgbClr val="000000"/>
              </a:solidFill>
              <a:ea typeface="+mn-ea"/>
              <a:cs typeface="+mn-cs"/>
            </a:rPr>
            <a:t>Implementación compleja, la consola dio errores varias veces antes de lograr entrenarlos por primera vez, sobre todo problemas con las dimensiones.</a:t>
          </a:r>
          <a:endParaRPr lang="en-US" sz="1700">
            <a:solidFill>
              <a:srgbClr val="000000"/>
            </a:solidFill>
            <a:ea typeface="+mn-ea"/>
            <a:cs typeface="+mn-cs"/>
          </a:endParaRPr>
        </a:p>
      </dgm:t>
    </dgm:pt>
    <dgm:pt modelId="{A03438F9-AE58-4D21-AB48-2BC7A65839EF}" type="parTrans" cxnId="{580A1D6A-DD9C-4730-90F5-F1217257E35B}">
      <dgm:prSet/>
      <dgm:spPr/>
      <dgm:t>
        <a:bodyPr/>
        <a:lstStyle/>
        <a:p>
          <a:endParaRPr lang="en-US"/>
        </a:p>
      </dgm:t>
    </dgm:pt>
    <dgm:pt modelId="{53B749E7-16A0-4171-9B4E-0D17A3842EA2}" type="sibTrans" cxnId="{580A1D6A-DD9C-4730-90F5-F1217257E35B}">
      <dgm:prSet/>
      <dgm:spPr/>
      <dgm:t>
        <a:bodyPr/>
        <a:lstStyle/>
        <a:p>
          <a:endParaRPr lang="en-US"/>
        </a:p>
      </dgm:t>
    </dgm:pt>
    <dgm:pt modelId="{4C390E0A-96E3-4A8B-B6CA-6B8BDE29CA93}">
      <dgm:prSet/>
      <dgm:spPr/>
      <dgm:t>
        <a:bodyPr/>
        <a:lstStyle/>
        <a:p>
          <a:pPr algn="l">
            <a:lnSpc>
              <a:spcPct val="90000"/>
            </a:lnSpc>
          </a:pPr>
          <a:r>
            <a:rPr lang="es-ES" sz="1700" dirty="0">
              <a:solidFill>
                <a:srgbClr val="000000"/>
              </a:solidFill>
              <a:ea typeface="+mn-ea"/>
              <a:cs typeface="+mn-cs"/>
            </a:rPr>
            <a:t>La métrica de cooperación no mide la supervivencia ni el daño que logran en conjunto los arqueros y los caballeros. Pues esto me supuso un problema adicional que en honor al tiempo decidí no arreglar. Se simplificó a solamente medir que tan bien se ponían por delante los </a:t>
          </a:r>
          <a:r>
            <a:rPr lang="es-ES" sz="1700" dirty="0" err="1">
              <a:solidFill>
                <a:srgbClr val="000000"/>
              </a:solidFill>
              <a:ea typeface="+mn-ea"/>
              <a:cs typeface="+mn-cs"/>
            </a:rPr>
            <a:t>Knights</a:t>
          </a:r>
          <a:r>
            <a:rPr lang="es-ES" sz="1700" dirty="0">
              <a:solidFill>
                <a:srgbClr val="000000"/>
              </a:solidFill>
              <a:ea typeface="+mn-ea"/>
              <a:cs typeface="+mn-cs"/>
            </a:rPr>
            <a:t>.</a:t>
          </a:r>
          <a:endParaRPr lang="en-US" sz="1700" dirty="0">
            <a:solidFill>
              <a:srgbClr val="000000"/>
            </a:solidFill>
            <a:ea typeface="+mn-ea"/>
            <a:cs typeface="+mn-cs"/>
          </a:endParaRPr>
        </a:p>
      </dgm:t>
    </dgm:pt>
    <dgm:pt modelId="{F48CB9FB-FC35-4ACA-BC28-DA941B5FAC46}" type="parTrans" cxnId="{CFE6F0AF-46AA-461B-81B4-253B8B780D14}">
      <dgm:prSet/>
      <dgm:spPr/>
      <dgm:t>
        <a:bodyPr/>
        <a:lstStyle/>
        <a:p>
          <a:endParaRPr lang="en-US"/>
        </a:p>
      </dgm:t>
    </dgm:pt>
    <dgm:pt modelId="{532322A7-A672-4453-8808-BBB7E807CA52}" type="sibTrans" cxnId="{CFE6F0AF-46AA-461B-81B4-253B8B780D14}">
      <dgm:prSet/>
      <dgm:spPr/>
      <dgm:t>
        <a:bodyPr/>
        <a:lstStyle/>
        <a:p>
          <a:endParaRPr lang="en-US"/>
        </a:p>
      </dgm:t>
    </dgm:pt>
    <dgm:pt modelId="{AB6EADAB-DEAA-4697-BFF8-04CCB77A8377}" type="pres">
      <dgm:prSet presAssocID="{01E0CD49-DBED-4C15-A65C-42CF0E896B25}" presName="linear" presStyleCnt="0">
        <dgm:presLayoutVars>
          <dgm:animLvl val="lvl"/>
          <dgm:resizeHandles val="exact"/>
        </dgm:presLayoutVars>
      </dgm:prSet>
      <dgm:spPr/>
    </dgm:pt>
    <dgm:pt modelId="{90F84FE2-17F7-4B85-BC63-E494A4DF134B}" type="pres">
      <dgm:prSet presAssocID="{277C54BA-BA0F-4A99-9C41-0D10400A4D5F}" presName="parentText" presStyleLbl="node1" presStyleIdx="0" presStyleCnt="4">
        <dgm:presLayoutVars>
          <dgm:chMax val="0"/>
          <dgm:bulletEnabled val="1"/>
        </dgm:presLayoutVars>
      </dgm:prSet>
      <dgm:spPr/>
    </dgm:pt>
    <dgm:pt modelId="{C2E5BB69-DC33-4157-8BCF-C3A95BB30B98}" type="pres">
      <dgm:prSet presAssocID="{85A2FC5E-C216-43A2-9AE1-1390CAFDDA47}" presName="spacer" presStyleCnt="0"/>
      <dgm:spPr/>
    </dgm:pt>
    <dgm:pt modelId="{2C4ADDF7-EF93-4AFC-B8F7-A32B1C4B3048}" type="pres">
      <dgm:prSet presAssocID="{48133A5D-9382-44EE-AE64-542E4C42CF40}" presName="parentText" presStyleLbl="node1" presStyleIdx="1" presStyleCnt="4">
        <dgm:presLayoutVars>
          <dgm:chMax val="0"/>
          <dgm:bulletEnabled val="1"/>
        </dgm:presLayoutVars>
      </dgm:prSet>
      <dgm:spPr/>
    </dgm:pt>
    <dgm:pt modelId="{2F2C0005-02E9-4BDE-B948-7FB1A0A5930C}" type="pres">
      <dgm:prSet presAssocID="{64542165-5589-4017-A4B8-2BDBB09BAB7C}" presName="spacer" presStyleCnt="0"/>
      <dgm:spPr/>
    </dgm:pt>
    <dgm:pt modelId="{CC1CDD9E-DAD9-49C0-B1BD-4CCF64C10266}" type="pres">
      <dgm:prSet presAssocID="{A88FB386-0D64-417F-A2B6-3231A89C7971}" presName="parentText" presStyleLbl="node1" presStyleIdx="2" presStyleCnt="4">
        <dgm:presLayoutVars>
          <dgm:chMax val="0"/>
          <dgm:bulletEnabled val="1"/>
        </dgm:presLayoutVars>
      </dgm:prSet>
      <dgm:spPr/>
    </dgm:pt>
    <dgm:pt modelId="{58C77EBD-FB2F-4985-A08D-3BB7D8F8C5C0}" type="pres">
      <dgm:prSet presAssocID="{53B749E7-16A0-4171-9B4E-0D17A3842EA2}" presName="spacer" presStyleCnt="0"/>
      <dgm:spPr/>
    </dgm:pt>
    <dgm:pt modelId="{60BC03C7-E799-4357-8F9D-2C1D12AAFD2B}" type="pres">
      <dgm:prSet presAssocID="{4C390E0A-96E3-4A8B-B6CA-6B8BDE29CA93}" presName="parentText" presStyleLbl="node1" presStyleIdx="3" presStyleCnt="4">
        <dgm:presLayoutVars>
          <dgm:chMax val="0"/>
          <dgm:bulletEnabled val="1"/>
        </dgm:presLayoutVars>
      </dgm:prSet>
      <dgm:spPr/>
    </dgm:pt>
  </dgm:ptLst>
  <dgm:cxnLst>
    <dgm:cxn modelId="{C3E9C520-FE18-40C6-A21D-6841739A3BDD}" type="presOf" srcId="{4C390E0A-96E3-4A8B-B6CA-6B8BDE29CA93}" destId="{60BC03C7-E799-4357-8F9D-2C1D12AAFD2B}" srcOrd="0" destOrd="0" presId="urn:microsoft.com/office/officeart/2005/8/layout/vList2"/>
    <dgm:cxn modelId="{580A1D6A-DD9C-4730-90F5-F1217257E35B}" srcId="{01E0CD49-DBED-4C15-A65C-42CF0E896B25}" destId="{A88FB386-0D64-417F-A2B6-3231A89C7971}" srcOrd="2" destOrd="0" parTransId="{A03438F9-AE58-4D21-AB48-2BC7A65839EF}" sibTransId="{53B749E7-16A0-4171-9B4E-0D17A3842EA2}"/>
    <dgm:cxn modelId="{7B9AA16B-ADD4-477D-8655-0824C034B242}" srcId="{01E0CD49-DBED-4C15-A65C-42CF0E896B25}" destId="{48133A5D-9382-44EE-AE64-542E4C42CF40}" srcOrd="1" destOrd="0" parTransId="{55D7AED6-1B28-4F87-B9A1-D05E665A6615}" sibTransId="{64542165-5589-4017-A4B8-2BDBB09BAB7C}"/>
    <dgm:cxn modelId="{D1CDB66D-80FE-4D3D-A83F-F27DDA7B1BF8}" type="presOf" srcId="{01E0CD49-DBED-4C15-A65C-42CF0E896B25}" destId="{AB6EADAB-DEAA-4697-BFF8-04CCB77A8377}" srcOrd="0" destOrd="0" presId="urn:microsoft.com/office/officeart/2005/8/layout/vList2"/>
    <dgm:cxn modelId="{4345716E-3CFD-40D7-8632-C173E9AE4E65}" type="presOf" srcId="{A88FB386-0D64-417F-A2B6-3231A89C7971}" destId="{CC1CDD9E-DAD9-49C0-B1BD-4CCF64C10266}" srcOrd="0" destOrd="0" presId="urn:microsoft.com/office/officeart/2005/8/layout/vList2"/>
    <dgm:cxn modelId="{476EDA7F-489D-44F1-A733-8AB9195EE1AE}" srcId="{01E0CD49-DBED-4C15-A65C-42CF0E896B25}" destId="{277C54BA-BA0F-4A99-9C41-0D10400A4D5F}" srcOrd="0" destOrd="0" parTransId="{444C283D-2976-4A5B-BD19-7107B822C2E8}" sibTransId="{85A2FC5E-C216-43A2-9AE1-1390CAFDDA47}"/>
    <dgm:cxn modelId="{0C34BE83-4033-49A6-B47B-091EA12FB9FB}" type="presOf" srcId="{277C54BA-BA0F-4A99-9C41-0D10400A4D5F}" destId="{90F84FE2-17F7-4B85-BC63-E494A4DF134B}" srcOrd="0" destOrd="0" presId="urn:microsoft.com/office/officeart/2005/8/layout/vList2"/>
    <dgm:cxn modelId="{CFE6F0AF-46AA-461B-81B4-253B8B780D14}" srcId="{01E0CD49-DBED-4C15-A65C-42CF0E896B25}" destId="{4C390E0A-96E3-4A8B-B6CA-6B8BDE29CA93}" srcOrd="3" destOrd="0" parTransId="{F48CB9FB-FC35-4ACA-BC28-DA941B5FAC46}" sibTransId="{532322A7-A672-4453-8808-BBB7E807CA52}"/>
    <dgm:cxn modelId="{7831E9C9-5FDB-4C26-8B49-DC84C9FF8816}" type="presOf" srcId="{48133A5D-9382-44EE-AE64-542E4C42CF40}" destId="{2C4ADDF7-EF93-4AFC-B8F7-A32B1C4B3048}" srcOrd="0" destOrd="0" presId="urn:microsoft.com/office/officeart/2005/8/layout/vList2"/>
    <dgm:cxn modelId="{DC0EEA2B-B9BF-484C-8407-12A1F929083A}" type="presParOf" srcId="{AB6EADAB-DEAA-4697-BFF8-04CCB77A8377}" destId="{90F84FE2-17F7-4B85-BC63-E494A4DF134B}" srcOrd="0" destOrd="0" presId="urn:microsoft.com/office/officeart/2005/8/layout/vList2"/>
    <dgm:cxn modelId="{B924A8E2-3063-408F-B45A-202EB424E03E}" type="presParOf" srcId="{AB6EADAB-DEAA-4697-BFF8-04CCB77A8377}" destId="{C2E5BB69-DC33-4157-8BCF-C3A95BB30B98}" srcOrd="1" destOrd="0" presId="urn:microsoft.com/office/officeart/2005/8/layout/vList2"/>
    <dgm:cxn modelId="{DAA34233-74C4-4925-B603-3BD4917C7D38}" type="presParOf" srcId="{AB6EADAB-DEAA-4697-BFF8-04CCB77A8377}" destId="{2C4ADDF7-EF93-4AFC-B8F7-A32B1C4B3048}" srcOrd="2" destOrd="0" presId="urn:microsoft.com/office/officeart/2005/8/layout/vList2"/>
    <dgm:cxn modelId="{B32C177B-02F4-48B2-AFF5-51615CF04736}" type="presParOf" srcId="{AB6EADAB-DEAA-4697-BFF8-04CCB77A8377}" destId="{2F2C0005-02E9-4BDE-B948-7FB1A0A5930C}" srcOrd="3" destOrd="0" presId="urn:microsoft.com/office/officeart/2005/8/layout/vList2"/>
    <dgm:cxn modelId="{A4D6AF23-53AE-4EA6-9D5A-90E5F925F0CB}" type="presParOf" srcId="{AB6EADAB-DEAA-4697-BFF8-04CCB77A8377}" destId="{CC1CDD9E-DAD9-49C0-B1BD-4CCF64C10266}" srcOrd="4" destOrd="0" presId="urn:microsoft.com/office/officeart/2005/8/layout/vList2"/>
    <dgm:cxn modelId="{3ECD67B5-92BF-4B23-8545-A9C873E715D4}" type="presParOf" srcId="{AB6EADAB-DEAA-4697-BFF8-04CCB77A8377}" destId="{58C77EBD-FB2F-4985-A08D-3BB7D8F8C5C0}" srcOrd="5" destOrd="0" presId="urn:microsoft.com/office/officeart/2005/8/layout/vList2"/>
    <dgm:cxn modelId="{F4E07CFD-CC58-407E-AEF9-E54D4EE382D2}" type="presParOf" srcId="{AB6EADAB-DEAA-4697-BFF8-04CCB77A8377}" destId="{60BC03C7-E799-4357-8F9D-2C1D12AAFD2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F84FE2-17F7-4B85-BC63-E494A4DF134B}">
      <dsp:nvSpPr>
        <dsp:cNvPr id="0" name=""/>
        <dsp:cNvSpPr/>
      </dsp:nvSpPr>
      <dsp:spPr>
        <a:xfrm>
          <a:off x="0" y="409100"/>
          <a:ext cx="7495357" cy="118345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ES" sz="1700" kern="1200">
              <a:solidFill>
                <a:srgbClr val="000000"/>
              </a:solidFill>
              <a:ea typeface="+mn-ea"/>
              <a:cs typeface="+mn-cs"/>
            </a:rPr>
            <a:t>Durante este proyecto se presentaron varios problemas, acá algunos de ellos, si bien no está mencionado en la pauta, es importante decirlo:</a:t>
          </a:r>
          <a:endParaRPr lang="en-US" sz="1700" kern="1200">
            <a:solidFill>
              <a:srgbClr val="000000"/>
            </a:solidFill>
            <a:ea typeface="+mn-ea"/>
            <a:cs typeface="+mn-cs"/>
          </a:endParaRPr>
        </a:p>
      </dsp:txBody>
      <dsp:txXfrm>
        <a:off x="57772" y="466872"/>
        <a:ext cx="7379813" cy="1067911"/>
      </dsp:txXfrm>
    </dsp:sp>
    <dsp:sp modelId="{2C4ADDF7-EF93-4AFC-B8F7-A32B1C4B3048}">
      <dsp:nvSpPr>
        <dsp:cNvPr id="0" name=""/>
        <dsp:cNvSpPr/>
      </dsp:nvSpPr>
      <dsp:spPr>
        <a:xfrm>
          <a:off x="0" y="1641515"/>
          <a:ext cx="7495357" cy="1183455"/>
        </a:xfrm>
        <a:prstGeom prst="roundRect">
          <a:avLst/>
        </a:prstGeom>
        <a:solidFill>
          <a:schemeClr val="accent5">
            <a:hueOff val="3003598"/>
            <a:satOff val="-7513"/>
            <a:lumOff val="-81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s-ES" sz="1700" kern="1200" dirty="0">
              <a:solidFill>
                <a:srgbClr val="000000"/>
              </a:solidFill>
              <a:ea typeface="+mn-ea"/>
              <a:cs typeface="+mn-cs"/>
            </a:rPr>
            <a:t>Tiempos de entrenamiento extremadamente largos (Alrededor de 8 horas por sesión ya que se entrenaban 2 millones de </a:t>
          </a:r>
          <a:r>
            <a:rPr lang="es-ES" sz="1700" kern="1200" dirty="0" err="1">
              <a:solidFill>
                <a:srgbClr val="000000"/>
              </a:solidFill>
              <a:ea typeface="+mn-ea"/>
              <a:cs typeface="+mn-cs"/>
            </a:rPr>
            <a:t>steps</a:t>
          </a:r>
          <a:r>
            <a:rPr lang="es-ES" sz="1700" kern="1200" dirty="0">
              <a:solidFill>
                <a:srgbClr val="000000"/>
              </a:solidFill>
              <a:ea typeface="+mn-ea"/>
              <a:cs typeface="+mn-cs"/>
            </a:rPr>
            <a:t> 4 veces, </a:t>
          </a:r>
          <a:r>
            <a:rPr lang="es-ES" sz="1700" kern="1200" dirty="0" err="1">
              <a:solidFill>
                <a:srgbClr val="000000"/>
              </a:solidFill>
              <a:ea typeface="+mn-ea"/>
              <a:cs typeface="+mn-cs"/>
            </a:rPr>
            <a:t>osea</a:t>
          </a:r>
          <a:r>
            <a:rPr lang="es-ES" sz="1700" kern="1200" dirty="0">
              <a:solidFill>
                <a:srgbClr val="000000"/>
              </a:solidFill>
              <a:ea typeface="+mn-ea"/>
              <a:cs typeface="+mn-cs"/>
            </a:rPr>
            <a:t> 8 millones de </a:t>
          </a:r>
          <a:r>
            <a:rPr lang="es-ES" sz="1700" kern="1200" dirty="0" err="1">
              <a:solidFill>
                <a:srgbClr val="000000"/>
              </a:solidFill>
              <a:ea typeface="+mn-ea"/>
              <a:cs typeface="+mn-cs"/>
            </a:rPr>
            <a:t>steps</a:t>
          </a:r>
          <a:r>
            <a:rPr lang="es-ES" sz="1700" kern="1200" dirty="0">
              <a:solidFill>
                <a:srgbClr val="000000"/>
              </a:solidFill>
              <a:ea typeface="+mn-ea"/>
              <a:cs typeface="+mn-cs"/>
            </a:rPr>
            <a:t>, es decir, en total se entrenaron 4*10 = 40 millones de </a:t>
          </a:r>
          <a:r>
            <a:rPr lang="es-ES" sz="1700" kern="1200" dirty="0" err="1">
              <a:solidFill>
                <a:srgbClr val="000000"/>
              </a:solidFill>
              <a:ea typeface="+mn-ea"/>
              <a:cs typeface="+mn-cs"/>
            </a:rPr>
            <a:t>Steps</a:t>
          </a:r>
          <a:r>
            <a:rPr lang="es-ES" sz="1700" kern="1200" dirty="0">
              <a:solidFill>
                <a:srgbClr val="000000"/>
              </a:solidFill>
              <a:latin typeface="Grandview Display"/>
              <a:ea typeface="+mn-ea"/>
              <a:cs typeface="+mn-cs"/>
            </a:rPr>
            <a:t>, 10 millones cada agente)</a:t>
          </a:r>
          <a:endParaRPr lang="en-US" sz="1700" kern="1200" dirty="0">
            <a:solidFill>
              <a:srgbClr val="000000"/>
            </a:solidFill>
            <a:ea typeface="+mn-ea"/>
            <a:cs typeface="+mn-cs"/>
          </a:endParaRPr>
        </a:p>
      </dsp:txBody>
      <dsp:txXfrm>
        <a:off x="57772" y="1699287"/>
        <a:ext cx="7379813" cy="1067911"/>
      </dsp:txXfrm>
    </dsp:sp>
    <dsp:sp modelId="{CC1CDD9E-DAD9-49C0-B1BD-4CCF64C10266}">
      <dsp:nvSpPr>
        <dsp:cNvPr id="0" name=""/>
        <dsp:cNvSpPr/>
      </dsp:nvSpPr>
      <dsp:spPr>
        <a:xfrm>
          <a:off x="0" y="2873930"/>
          <a:ext cx="7495357" cy="1183455"/>
        </a:xfrm>
        <a:prstGeom prst="roundRect">
          <a:avLst/>
        </a:prstGeom>
        <a:solidFill>
          <a:schemeClr val="accent5">
            <a:hueOff val="6007196"/>
            <a:satOff val="-15026"/>
            <a:lumOff val="-163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ES" sz="1700" kern="1200">
              <a:solidFill>
                <a:srgbClr val="000000"/>
              </a:solidFill>
              <a:ea typeface="+mn-ea"/>
              <a:cs typeface="+mn-cs"/>
            </a:rPr>
            <a:t>Implementación compleja, la consola dio errores varias veces antes de lograr entrenarlos por primera vez, sobre todo problemas con las dimensiones.</a:t>
          </a:r>
          <a:endParaRPr lang="en-US" sz="1700" kern="1200">
            <a:solidFill>
              <a:srgbClr val="000000"/>
            </a:solidFill>
            <a:ea typeface="+mn-ea"/>
            <a:cs typeface="+mn-cs"/>
          </a:endParaRPr>
        </a:p>
      </dsp:txBody>
      <dsp:txXfrm>
        <a:off x="57772" y="2931702"/>
        <a:ext cx="7379813" cy="1067911"/>
      </dsp:txXfrm>
    </dsp:sp>
    <dsp:sp modelId="{60BC03C7-E799-4357-8F9D-2C1D12AAFD2B}">
      <dsp:nvSpPr>
        <dsp:cNvPr id="0" name=""/>
        <dsp:cNvSpPr/>
      </dsp:nvSpPr>
      <dsp:spPr>
        <a:xfrm>
          <a:off x="0" y="4106345"/>
          <a:ext cx="7495357" cy="1183455"/>
        </a:xfrm>
        <a:prstGeom prst="roundRect">
          <a:avLst/>
        </a:prstGeom>
        <a:solidFill>
          <a:schemeClr val="accent5">
            <a:hueOff val="9010794"/>
            <a:satOff val="-22539"/>
            <a:lumOff val="-24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ES" sz="1700" kern="1200" dirty="0">
              <a:solidFill>
                <a:srgbClr val="000000"/>
              </a:solidFill>
              <a:ea typeface="+mn-ea"/>
              <a:cs typeface="+mn-cs"/>
            </a:rPr>
            <a:t>La métrica de cooperación no mide la supervivencia ni el daño que logran en conjunto los arqueros y los caballeros. Pues esto me supuso un problema adicional que en honor al tiempo decidí no arreglar. Se simplificó a solamente medir que tan bien se ponían por delante los </a:t>
          </a:r>
          <a:r>
            <a:rPr lang="es-ES" sz="1700" kern="1200" dirty="0" err="1">
              <a:solidFill>
                <a:srgbClr val="000000"/>
              </a:solidFill>
              <a:ea typeface="+mn-ea"/>
              <a:cs typeface="+mn-cs"/>
            </a:rPr>
            <a:t>Knights</a:t>
          </a:r>
          <a:r>
            <a:rPr lang="es-ES" sz="1700" kern="1200" dirty="0">
              <a:solidFill>
                <a:srgbClr val="000000"/>
              </a:solidFill>
              <a:ea typeface="+mn-ea"/>
              <a:cs typeface="+mn-cs"/>
            </a:rPr>
            <a:t>.</a:t>
          </a:r>
          <a:endParaRPr lang="en-US" sz="1700" kern="1200" dirty="0">
            <a:solidFill>
              <a:srgbClr val="000000"/>
            </a:solidFill>
            <a:ea typeface="+mn-ea"/>
            <a:cs typeface="+mn-cs"/>
          </a:endParaRPr>
        </a:p>
      </dsp:txBody>
      <dsp:txXfrm>
        <a:off x="57772" y="4164117"/>
        <a:ext cx="7379813" cy="106791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12/18/2025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354574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12/18/2025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778701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12/18/2025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‹Nº›</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201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12/18/2025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541697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12/18/2025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092067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12/18/2025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946922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12/18/2025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34504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12/18/2025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677241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12/18/2025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327789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12/18/2025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982384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12/18/2025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‹Nº›</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726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12/18/2025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‹Nº›</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90869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a:extLst>
              <a:ext uri="{FF2B5EF4-FFF2-40B4-BE49-F238E27FC236}">
                <a16:creationId xmlns:a16="http://schemas.microsoft.com/office/drawing/2014/main" id="{35B86560-139D-95D0-7C08-1AA6E445C820}"/>
              </a:ext>
            </a:extLst>
          </p:cNvPr>
          <p:cNvPicPr>
            <a:picLocks noChangeAspect="1"/>
          </p:cNvPicPr>
          <p:nvPr/>
        </p:nvPicPr>
        <p:blipFill>
          <a:blip r:embed="rId2"/>
          <a:srcRect t="9091" r="10667" b="-2"/>
          <a:stretch>
            <a:fillRect/>
          </a:stretch>
        </p:blipFill>
        <p:spPr>
          <a:xfrm>
            <a:off x="1" y="10"/>
            <a:ext cx="12192000" cy="6857990"/>
          </a:xfrm>
          <a:prstGeom prst="rect">
            <a:avLst/>
          </a:prstGeom>
        </p:spPr>
      </p:pic>
      <p:sp>
        <p:nvSpPr>
          <p:cNvPr id="11" name="Rectangle 10">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6600" y="1066800"/>
            <a:ext cx="4681728"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ítulo 1"/>
          <p:cNvSpPr>
            <a:spLocks noGrp="1"/>
          </p:cNvSpPr>
          <p:nvPr>
            <p:ph type="ctrTitle"/>
          </p:nvPr>
        </p:nvSpPr>
        <p:spPr>
          <a:xfrm>
            <a:off x="7769722" y="1562101"/>
            <a:ext cx="3884568" cy="2738530"/>
          </a:xfrm>
        </p:spPr>
        <p:txBody>
          <a:bodyPr anchor="t">
            <a:normAutofit/>
          </a:bodyPr>
          <a:lstStyle/>
          <a:p>
            <a:pPr>
              <a:lnSpc>
                <a:spcPct val="90000"/>
              </a:lnSpc>
            </a:pPr>
            <a:r>
              <a:rPr lang="es-ES" sz="4400"/>
              <a:t>Presentación Final Proyecto Aprendizaje Por Refuerzo</a:t>
            </a:r>
          </a:p>
        </p:txBody>
      </p:sp>
      <p:sp>
        <p:nvSpPr>
          <p:cNvPr id="3" name="Subtítulo 2"/>
          <p:cNvSpPr>
            <a:spLocks noGrp="1"/>
          </p:cNvSpPr>
          <p:nvPr>
            <p:ph type="subTitle" idx="1"/>
          </p:nvPr>
        </p:nvSpPr>
        <p:spPr>
          <a:xfrm>
            <a:off x="7769722" y="4321622"/>
            <a:ext cx="3813048" cy="941832"/>
          </a:xfrm>
        </p:spPr>
        <p:txBody>
          <a:bodyPr vert="horz" lIns="91440" tIns="45720" rIns="91440" bIns="45720" rtlCol="0">
            <a:normAutofit fontScale="92500"/>
          </a:bodyPr>
          <a:lstStyle/>
          <a:p>
            <a:r>
              <a:rPr lang="es-ES" sz="2000" dirty="0"/>
              <a:t>Xavier Gajardo </a:t>
            </a:r>
            <a:r>
              <a:rPr lang="es-ES" sz="2000" dirty="0" err="1"/>
              <a:t>Garfe</a:t>
            </a:r>
            <a:endParaRPr lang="es-ES" sz="2000"/>
          </a:p>
          <a:p>
            <a:r>
              <a:rPr lang="es-ES" sz="2000" dirty="0"/>
              <a:t>Prof. Julio </a:t>
            </a:r>
            <a:r>
              <a:rPr lang="es-ES" sz="2000" dirty="0" err="1"/>
              <a:t>godoy</a:t>
            </a:r>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619035" y="3435440"/>
            <a:ext cx="0" cy="469087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2731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ítulo 1">
            <a:extLst>
              <a:ext uri="{FF2B5EF4-FFF2-40B4-BE49-F238E27FC236}">
                <a16:creationId xmlns:a16="http://schemas.microsoft.com/office/drawing/2014/main" id="{7004161A-2395-F67D-839C-CACD8C862D07}"/>
              </a:ext>
            </a:extLst>
          </p:cNvPr>
          <p:cNvSpPr>
            <a:spLocks noGrp="1"/>
          </p:cNvSpPr>
          <p:nvPr>
            <p:ph type="title"/>
          </p:nvPr>
        </p:nvSpPr>
        <p:spPr>
          <a:xfrm>
            <a:off x="640080" y="914401"/>
            <a:ext cx="3099816" cy="1477817"/>
          </a:xfrm>
        </p:spPr>
        <p:txBody>
          <a:bodyPr>
            <a:normAutofit/>
          </a:bodyPr>
          <a:lstStyle/>
          <a:p>
            <a:r>
              <a:rPr lang="es-ES" sz="3600"/>
              <a:t>Resumen del Problema </a:t>
            </a:r>
          </a:p>
        </p:txBody>
      </p:sp>
      <p:pic>
        <p:nvPicPr>
          <p:cNvPr id="4" name="Imagen 3" descr="Knights Archers Zombies ('KAZ') - PettingZoo Documentation">
            <a:extLst>
              <a:ext uri="{FF2B5EF4-FFF2-40B4-BE49-F238E27FC236}">
                <a16:creationId xmlns:a16="http://schemas.microsoft.com/office/drawing/2014/main" id="{2E75F244-319E-6010-FE03-EE2F6303B2E3}"/>
              </a:ext>
            </a:extLst>
          </p:cNvPr>
          <p:cNvPicPr>
            <a:picLocks noChangeAspect="1"/>
          </p:cNvPicPr>
          <p:nvPr/>
        </p:nvPicPr>
        <p:blipFill>
          <a:blip r:embed="rId2"/>
          <a:srcRect r="-1" b="1350"/>
          <a:stretch>
            <a:fillRect/>
          </a:stretch>
        </p:blipFill>
        <p:spPr>
          <a:xfrm>
            <a:off x="317501" y="2105892"/>
            <a:ext cx="3739895" cy="3689359"/>
          </a:xfrm>
          <a:prstGeom prst="rect">
            <a:avLst/>
          </a:prstGeom>
        </p:spPr>
      </p:pic>
      <p:cxnSp>
        <p:nvCxnSpPr>
          <p:cNvPr id="11" name="Straight Connector 10">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3739896"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63A9A909-5DB0-F605-9CE8-62F790113DF7}"/>
              </a:ext>
            </a:extLst>
          </p:cNvPr>
          <p:cNvSpPr>
            <a:spLocks noGrp="1"/>
          </p:cNvSpPr>
          <p:nvPr>
            <p:ph idx="1"/>
          </p:nvPr>
        </p:nvSpPr>
        <p:spPr>
          <a:xfrm>
            <a:off x="4325537" y="1014984"/>
            <a:ext cx="7205472" cy="5288266"/>
          </a:xfrm>
        </p:spPr>
        <p:txBody>
          <a:bodyPr vert="horz" lIns="91440" tIns="45720" rIns="91440" bIns="45720" rtlCol="0" anchor="t">
            <a:normAutofit/>
          </a:bodyPr>
          <a:lstStyle/>
          <a:p>
            <a:pPr algn="just"/>
            <a:r>
              <a:rPr lang="es-ES" dirty="0"/>
              <a:t>El problema que se planteó en la primera presentación fue el de poder coordinar a los arqueros y los caballeros de </a:t>
            </a:r>
            <a:r>
              <a:rPr lang="es-ES" dirty="0" err="1"/>
              <a:t>Knights</a:t>
            </a:r>
            <a:r>
              <a:rPr lang="es-ES" dirty="0"/>
              <a:t>, </a:t>
            </a:r>
            <a:r>
              <a:rPr lang="es-ES" dirty="0" err="1"/>
              <a:t>Archers</a:t>
            </a:r>
            <a:r>
              <a:rPr lang="es-ES" dirty="0"/>
              <a:t>, </a:t>
            </a:r>
            <a:r>
              <a:rPr lang="es-ES" dirty="0" err="1"/>
              <a:t>Zombies</a:t>
            </a:r>
            <a:r>
              <a:rPr lang="es-ES" dirty="0"/>
              <a:t>; Juego de </a:t>
            </a:r>
            <a:r>
              <a:rPr lang="es-ES" dirty="0" err="1"/>
              <a:t>Petting</a:t>
            </a:r>
            <a:r>
              <a:rPr lang="es-ES" dirty="0"/>
              <a:t> Zoo perfecto para tener un mejor entendimiento del Aprendizaje Por Refuerzo. Veremos que, este problema resultó ser bastante más complejo de lo que pensaba pero que, sin embargo, hay avances alentadores. Se propuso resolverlo con PPO, lo cual luego veremos que funcionó bastante decentemente.</a:t>
            </a:r>
            <a:endParaRPr lang="es-ES"/>
          </a:p>
        </p:txBody>
      </p:sp>
    </p:spTree>
    <p:extLst>
      <p:ext uri="{BB962C8B-B14F-4D97-AF65-F5344CB8AC3E}">
        <p14:creationId xmlns:p14="http://schemas.microsoft.com/office/powerpoint/2010/main" val="1005948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014377-23FD-CF6E-8FA4-936AA52031D8}"/>
              </a:ext>
            </a:extLst>
          </p:cNvPr>
          <p:cNvSpPr>
            <a:spLocks noGrp="1"/>
          </p:cNvSpPr>
          <p:nvPr>
            <p:ph type="title"/>
          </p:nvPr>
        </p:nvSpPr>
        <p:spPr>
          <a:xfrm>
            <a:off x="5496821" y="1371600"/>
            <a:ext cx="6034187" cy="1097280"/>
          </a:xfrm>
        </p:spPr>
        <p:txBody>
          <a:bodyPr>
            <a:normAutofit/>
          </a:bodyPr>
          <a:lstStyle/>
          <a:p>
            <a:pPr>
              <a:lnSpc>
                <a:spcPct val="90000"/>
              </a:lnSpc>
            </a:pPr>
            <a:r>
              <a:rPr lang="es-ES" sz="3400"/>
              <a:t>Descripción de la implementación</a:t>
            </a:r>
          </a:p>
        </p:txBody>
      </p:sp>
      <p:pic>
        <p:nvPicPr>
          <p:cNvPr id="4" name="Imagen 3" descr="🧟 Knights Archers &amp; Zombies with IPPO - RL">
            <a:extLst>
              <a:ext uri="{FF2B5EF4-FFF2-40B4-BE49-F238E27FC236}">
                <a16:creationId xmlns:a16="http://schemas.microsoft.com/office/drawing/2014/main" id="{FEDB2029-2BDF-8B2B-34BA-16BD46E30C96}"/>
              </a:ext>
            </a:extLst>
          </p:cNvPr>
          <p:cNvPicPr>
            <a:picLocks noChangeAspect="1"/>
          </p:cNvPicPr>
          <p:nvPr/>
        </p:nvPicPr>
        <p:blipFill>
          <a:blip r:embed="rId2"/>
          <a:srcRect r="60332"/>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4A9E89BB-1C97-A046-3B4B-7CEBA46D6EE4}"/>
              </a:ext>
            </a:extLst>
          </p:cNvPr>
          <p:cNvSpPr>
            <a:spLocks noGrp="1"/>
          </p:cNvSpPr>
          <p:nvPr>
            <p:ph idx="1"/>
          </p:nvPr>
        </p:nvSpPr>
        <p:spPr>
          <a:xfrm>
            <a:off x="5496821" y="2633236"/>
            <a:ext cx="6034187" cy="3664687"/>
          </a:xfrm>
        </p:spPr>
        <p:txBody>
          <a:bodyPr vert="horz" lIns="91440" tIns="45720" rIns="91440" bIns="45720" rtlCol="0" anchor="t">
            <a:normAutofit/>
          </a:bodyPr>
          <a:lstStyle/>
          <a:p>
            <a:pPr algn="just">
              <a:lnSpc>
                <a:spcPct val="110000"/>
              </a:lnSpc>
            </a:pPr>
            <a:r>
              <a:rPr lang="es-ES" sz="1900" dirty="0"/>
              <a:t>Se implementó un enfoque </a:t>
            </a:r>
            <a:r>
              <a:rPr lang="es-ES" sz="1900" dirty="0" err="1"/>
              <a:t>multiagente</a:t>
            </a:r>
            <a:r>
              <a:rPr lang="es-ES" sz="1900" dirty="0"/>
              <a:t> con aprendizaje independiente (</a:t>
            </a:r>
            <a:r>
              <a:rPr lang="es-ES" sz="1900" dirty="0" err="1"/>
              <a:t>Independent</a:t>
            </a:r>
            <a:r>
              <a:rPr lang="es-ES" sz="1900" dirty="0"/>
              <a:t> PPO).</a:t>
            </a:r>
            <a:endParaRPr lang="es-ES" dirty="0"/>
          </a:p>
          <a:p>
            <a:pPr algn="just">
              <a:lnSpc>
                <a:spcPct val="110000"/>
              </a:lnSpc>
            </a:pPr>
            <a:r>
              <a:rPr lang="es-ES" sz="1900" dirty="0"/>
              <a:t>Cada agente (2 </a:t>
            </a:r>
            <a:r>
              <a:rPr lang="es-ES" sz="1900" dirty="0" err="1"/>
              <a:t>knights</a:t>
            </a:r>
            <a:r>
              <a:rPr lang="es-ES" sz="1900" dirty="0"/>
              <a:t> y 2 </a:t>
            </a:r>
            <a:r>
              <a:rPr lang="es-ES" sz="1900" dirty="0" err="1"/>
              <a:t>archers</a:t>
            </a:r>
            <a:r>
              <a:rPr lang="es-ES" sz="1900" dirty="0"/>
              <a:t>) posee su propia política PPO, entrenada por separado.</a:t>
            </a:r>
          </a:p>
          <a:p>
            <a:pPr algn="just">
              <a:lnSpc>
                <a:spcPct val="110000"/>
              </a:lnSpc>
            </a:pPr>
            <a:r>
              <a:rPr lang="es-ES" sz="1900" dirty="0"/>
              <a:t>El entorno </a:t>
            </a:r>
            <a:r>
              <a:rPr lang="es-ES" sz="1900" dirty="0" err="1"/>
              <a:t>multiagente</a:t>
            </a:r>
            <a:r>
              <a:rPr lang="es-ES" sz="1900" dirty="0"/>
              <a:t> fue transformado a single-</a:t>
            </a:r>
            <a:r>
              <a:rPr lang="es-ES" sz="1900" dirty="0" err="1"/>
              <a:t>agent</a:t>
            </a:r>
            <a:r>
              <a:rPr lang="es-ES" sz="1900" dirty="0"/>
              <a:t> </a:t>
            </a:r>
            <a:r>
              <a:rPr lang="es-ES" sz="1900" dirty="0" err="1"/>
              <a:t>Gym</a:t>
            </a:r>
            <a:r>
              <a:rPr lang="es-ES" sz="1900" dirty="0"/>
              <a:t> para permitir el uso de Stable-Baselines3.</a:t>
            </a:r>
          </a:p>
          <a:p>
            <a:pPr algn="just">
              <a:lnSpc>
                <a:spcPct val="110000"/>
              </a:lnSpc>
            </a:pPr>
            <a:r>
              <a:rPr lang="es-ES" sz="1900" dirty="0"/>
              <a:t>Se incorporó </a:t>
            </a:r>
            <a:r>
              <a:rPr lang="es-ES" sz="1900" dirty="0" err="1"/>
              <a:t>reward</a:t>
            </a:r>
            <a:r>
              <a:rPr lang="es-ES" sz="1900" dirty="0"/>
              <a:t> </a:t>
            </a:r>
            <a:r>
              <a:rPr lang="es-ES" sz="1900" dirty="0" err="1"/>
              <a:t>shaping</a:t>
            </a:r>
            <a:r>
              <a:rPr lang="es-ES" sz="1900" dirty="0"/>
              <a:t> para los </a:t>
            </a:r>
            <a:r>
              <a:rPr lang="es-ES" sz="1900" dirty="0" err="1"/>
              <a:t>knights</a:t>
            </a:r>
            <a:r>
              <a:rPr lang="es-ES" sz="1900" dirty="0"/>
              <a:t>, incentivando que se mantengan delante de los arqueros y actúen como tanques.</a:t>
            </a:r>
          </a:p>
          <a:p>
            <a:pPr>
              <a:lnSpc>
                <a:spcPct val="110000"/>
              </a:lnSpc>
            </a:pPr>
            <a:endParaRPr lang="es-ES" sz="1900"/>
          </a:p>
        </p:txBody>
      </p:sp>
    </p:spTree>
    <p:extLst>
      <p:ext uri="{BB962C8B-B14F-4D97-AF65-F5344CB8AC3E}">
        <p14:creationId xmlns:p14="http://schemas.microsoft.com/office/powerpoint/2010/main" val="575036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5918E1-C990-19D5-14EE-77756DC8248A}"/>
              </a:ext>
            </a:extLst>
          </p:cNvPr>
          <p:cNvSpPr>
            <a:spLocks noGrp="1"/>
          </p:cNvSpPr>
          <p:nvPr>
            <p:ph type="title"/>
          </p:nvPr>
        </p:nvSpPr>
        <p:spPr/>
        <p:txBody>
          <a:bodyPr/>
          <a:lstStyle/>
          <a:p>
            <a:r>
              <a:rPr lang="es-ES"/>
              <a:t>Cuadro Comparativo</a:t>
            </a:r>
          </a:p>
        </p:txBody>
      </p:sp>
      <p:graphicFrame>
        <p:nvGraphicFramePr>
          <p:cNvPr id="4" name="Marcador de contenido 3">
            <a:extLst>
              <a:ext uri="{FF2B5EF4-FFF2-40B4-BE49-F238E27FC236}">
                <a16:creationId xmlns:a16="http://schemas.microsoft.com/office/drawing/2014/main" id="{2E665DA5-BB7E-466A-E7C7-DF4D828BCF69}"/>
              </a:ext>
            </a:extLst>
          </p:cNvPr>
          <p:cNvGraphicFramePr>
            <a:graphicFrameLocks noGrp="1"/>
          </p:cNvGraphicFramePr>
          <p:nvPr>
            <p:ph idx="1"/>
            <p:extLst>
              <p:ext uri="{D42A27DB-BD31-4B8C-83A1-F6EECF244321}">
                <p14:modId xmlns:p14="http://schemas.microsoft.com/office/powerpoint/2010/main" val="3997436563"/>
              </p:ext>
            </p:extLst>
          </p:nvPr>
        </p:nvGraphicFramePr>
        <p:xfrm>
          <a:off x="639763" y="2633663"/>
          <a:ext cx="10891836" cy="3261903"/>
        </p:xfrm>
        <a:graphic>
          <a:graphicData uri="http://schemas.openxmlformats.org/drawingml/2006/table">
            <a:tbl>
              <a:tblPr firstRow="1" bandRow="1">
                <a:tableStyleId>{5C22544A-7EE6-4342-B048-85BDC9FD1C3A}</a:tableStyleId>
              </a:tblPr>
              <a:tblGrid>
                <a:gridCol w="3630612">
                  <a:extLst>
                    <a:ext uri="{9D8B030D-6E8A-4147-A177-3AD203B41FA5}">
                      <a16:colId xmlns:a16="http://schemas.microsoft.com/office/drawing/2014/main" val="1348751165"/>
                    </a:ext>
                  </a:extLst>
                </a:gridCol>
                <a:gridCol w="3630612">
                  <a:extLst>
                    <a:ext uri="{9D8B030D-6E8A-4147-A177-3AD203B41FA5}">
                      <a16:colId xmlns:a16="http://schemas.microsoft.com/office/drawing/2014/main" val="3404938040"/>
                    </a:ext>
                  </a:extLst>
                </a:gridCol>
                <a:gridCol w="3630612">
                  <a:extLst>
                    <a:ext uri="{9D8B030D-6E8A-4147-A177-3AD203B41FA5}">
                      <a16:colId xmlns:a16="http://schemas.microsoft.com/office/drawing/2014/main" val="1923998495"/>
                    </a:ext>
                  </a:extLst>
                </a:gridCol>
              </a:tblGrid>
              <a:tr h="652381">
                <a:tc>
                  <a:txBody>
                    <a:bodyPr/>
                    <a:lstStyle/>
                    <a:p>
                      <a:r>
                        <a:rPr lang="es-ES"/>
                        <a:t>Aspecto</a:t>
                      </a:r>
                    </a:p>
                  </a:txBody>
                  <a:tcPr/>
                </a:tc>
                <a:tc>
                  <a:txBody>
                    <a:bodyPr/>
                    <a:lstStyle/>
                    <a:p>
                      <a:r>
                        <a:rPr lang="es-ES"/>
                        <a:t>Sin Cooperación</a:t>
                      </a:r>
                      <a:endParaRPr lang="es-ES" dirty="0"/>
                    </a:p>
                  </a:txBody>
                  <a:tcPr/>
                </a:tc>
                <a:tc>
                  <a:txBody>
                    <a:bodyPr/>
                    <a:lstStyle/>
                    <a:p>
                      <a:r>
                        <a:rPr lang="es-ES"/>
                        <a:t>Cooperativo</a:t>
                      </a:r>
                    </a:p>
                  </a:txBody>
                  <a:tcPr/>
                </a:tc>
                <a:extLst>
                  <a:ext uri="{0D108BD9-81ED-4DB2-BD59-A6C34878D82A}">
                    <a16:rowId xmlns:a16="http://schemas.microsoft.com/office/drawing/2014/main" val="673389433"/>
                  </a:ext>
                </a:extLst>
              </a:tr>
              <a:tr h="652381">
                <a:tc>
                  <a:txBody>
                    <a:bodyPr/>
                    <a:lstStyle/>
                    <a:p>
                      <a:r>
                        <a:rPr lang="es-ES"/>
                        <a:t>Políticas</a:t>
                      </a:r>
                    </a:p>
                  </a:txBody>
                  <a:tcPr/>
                </a:tc>
                <a:tc>
                  <a:txBody>
                    <a:bodyPr/>
                    <a:lstStyle/>
                    <a:p>
                      <a:r>
                        <a:rPr lang="es-ES"/>
                        <a:t>1 para todo</a:t>
                      </a:r>
                    </a:p>
                  </a:txBody>
                  <a:tcPr/>
                </a:tc>
                <a:tc>
                  <a:txBody>
                    <a:bodyPr/>
                    <a:lstStyle/>
                    <a:p>
                      <a:r>
                        <a:rPr lang="es-ES"/>
                        <a:t>4 (1 individual para c/u)</a:t>
                      </a:r>
                    </a:p>
                  </a:txBody>
                  <a:tcPr/>
                </a:tc>
                <a:extLst>
                  <a:ext uri="{0D108BD9-81ED-4DB2-BD59-A6C34878D82A}">
                    <a16:rowId xmlns:a16="http://schemas.microsoft.com/office/drawing/2014/main" val="1077788929"/>
                  </a:ext>
                </a:extLst>
              </a:tr>
              <a:tr h="652381">
                <a:tc>
                  <a:txBody>
                    <a:bodyPr/>
                    <a:lstStyle/>
                    <a:p>
                      <a:r>
                        <a:rPr lang="es-ES"/>
                        <a:t>Roles</a:t>
                      </a:r>
                    </a:p>
                  </a:txBody>
                  <a:tcPr/>
                </a:tc>
                <a:tc>
                  <a:txBody>
                    <a:bodyPr/>
                    <a:lstStyle/>
                    <a:p>
                      <a:r>
                        <a:rPr lang="es-ES"/>
                        <a:t>Ignorados totalmente</a:t>
                      </a:r>
                    </a:p>
                  </a:txBody>
                  <a:tcPr/>
                </a:tc>
                <a:tc>
                  <a:txBody>
                    <a:bodyPr/>
                    <a:lstStyle/>
                    <a:p>
                      <a:r>
                        <a:rPr lang="es-ES"/>
                        <a:t>Roles Explícitos</a:t>
                      </a:r>
                      <a:endParaRPr lang="es-ES" dirty="0"/>
                    </a:p>
                  </a:txBody>
                  <a:tcPr/>
                </a:tc>
                <a:extLst>
                  <a:ext uri="{0D108BD9-81ED-4DB2-BD59-A6C34878D82A}">
                    <a16:rowId xmlns:a16="http://schemas.microsoft.com/office/drawing/2014/main" val="1167226065"/>
                  </a:ext>
                </a:extLst>
              </a:tr>
              <a:tr h="652380">
                <a:tc>
                  <a:txBody>
                    <a:bodyPr/>
                    <a:lstStyle/>
                    <a:p>
                      <a:pPr lvl="0">
                        <a:buNone/>
                      </a:pPr>
                      <a:r>
                        <a:rPr lang="es-ES"/>
                        <a:t>Evaluación</a:t>
                      </a:r>
                      <a:endParaRPr lang="es-ES" dirty="0"/>
                    </a:p>
                  </a:txBody>
                  <a:tcPr/>
                </a:tc>
                <a:tc>
                  <a:txBody>
                    <a:bodyPr/>
                    <a:lstStyle/>
                    <a:p>
                      <a:pPr lvl="0">
                        <a:buNone/>
                      </a:pPr>
                      <a:r>
                        <a:rPr lang="es-ES"/>
                        <a:t>Visual</a:t>
                      </a:r>
                      <a:endParaRPr lang="es-ES" dirty="0"/>
                    </a:p>
                  </a:txBody>
                  <a:tcPr/>
                </a:tc>
                <a:tc>
                  <a:txBody>
                    <a:bodyPr/>
                    <a:lstStyle/>
                    <a:p>
                      <a:pPr lvl="0">
                        <a:buNone/>
                      </a:pPr>
                      <a:r>
                        <a:rPr lang="es-ES"/>
                        <a:t>Visual + Métrica</a:t>
                      </a:r>
                      <a:endParaRPr lang="es-ES" dirty="0"/>
                    </a:p>
                  </a:txBody>
                  <a:tcPr/>
                </a:tc>
                <a:extLst>
                  <a:ext uri="{0D108BD9-81ED-4DB2-BD59-A6C34878D82A}">
                    <a16:rowId xmlns:a16="http://schemas.microsoft.com/office/drawing/2014/main" val="876908388"/>
                  </a:ext>
                </a:extLst>
              </a:tr>
              <a:tr h="652380">
                <a:tc>
                  <a:txBody>
                    <a:bodyPr/>
                    <a:lstStyle/>
                    <a:p>
                      <a:pPr lvl="0">
                        <a:buNone/>
                      </a:pPr>
                      <a:r>
                        <a:rPr lang="es-ES"/>
                        <a:t>Formación</a:t>
                      </a:r>
                      <a:endParaRPr lang="es-ES" dirty="0"/>
                    </a:p>
                  </a:txBody>
                  <a:tcPr/>
                </a:tc>
                <a:tc>
                  <a:txBody>
                    <a:bodyPr/>
                    <a:lstStyle/>
                    <a:p>
                      <a:pPr lvl="0">
                        <a:buNone/>
                      </a:pPr>
                      <a:r>
                        <a:rPr lang="es-ES"/>
                        <a:t>No emerge / No se espera</a:t>
                      </a:r>
                      <a:endParaRPr lang="es-ES" dirty="0"/>
                    </a:p>
                  </a:txBody>
                  <a:tcPr/>
                </a:tc>
                <a:tc>
                  <a:txBody>
                    <a:bodyPr/>
                    <a:lstStyle/>
                    <a:p>
                      <a:pPr lvl="0">
                        <a:buNone/>
                      </a:pPr>
                      <a:r>
                        <a:rPr lang="es-ES"/>
                        <a:t>Parcial / Emergente</a:t>
                      </a:r>
                      <a:endParaRPr lang="es-ES" dirty="0"/>
                    </a:p>
                  </a:txBody>
                  <a:tcPr/>
                </a:tc>
                <a:extLst>
                  <a:ext uri="{0D108BD9-81ED-4DB2-BD59-A6C34878D82A}">
                    <a16:rowId xmlns:a16="http://schemas.microsoft.com/office/drawing/2014/main" val="898745351"/>
                  </a:ext>
                </a:extLst>
              </a:tr>
            </a:tbl>
          </a:graphicData>
        </a:graphic>
      </p:graphicFrame>
    </p:spTree>
    <p:extLst>
      <p:ext uri="{BB962C8B-B14F-4D97-AF65-F5344CB8AC3E}">
        <p14:creationId xmlns:p14="http://schemas.microsoft.com/office/powerpoint/2010/main" val="2881626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B89F821-01CC-755E-2C99-DC389932CA29}"/>
              </a:ext>
            </a:extLst>
          </p:cNvPr>
          <p:cNvSpPr>
            <a:spLocks noGrp="1"/>
          </p:cNvSpPr>
          <p:nvPr>
            <p:ph type="title"/>
          </p:nvPr>
        </p:nvSpPr>
        <p:spPr>
          <a:xfrm>
            <a:off x="640080" y="1371600"/>
            <a:ext cx="5737859" cy="1097280"/>
          </a:xfrm>
        </p:spPr>
        <p:txBody>
          <a:bodyPr>
            <a:normAutofit/>
          </a:bodyPr>
          <a:lstStyle/>
          <a:p>
            <a:r>
              <a:rPr lang="es-ES"/>
              <a:t>Resultados</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DF278F63-0D2D-4676-FB69-5A418CF14CD9}"/>
              </a:ext>
            </a:extLst>
          </p:cNvPr>
          <p:cNvSpPr>
            <a:spLocks noGrp="1"/>
          </p:cNvSpPr>
          <p:nvPr>
            <p:ph idx="1"/>
          </p:nvPr>
        </p:nvSpPr>
        <p:spPr>
          <a:xfrm>
            <a:off x="640080" y="2633236"/>
            <a:ext cx="5737860" cy="3666980"/>
          </a:xfrm>
        </p:spPr>
        <p:txBody>
          <a:bodyPr vert="horz" lIns="91440" tIns="45720" rIns="91440" bIns="45720" rtlCol="0" anchor="t">
            <a:normAutofit/>
          </a:bodyPr>
          <a:lstStyle/>
          <a:p>
            <a:pPr algn="just"/>
            <a:r>
              <a:rPr lang="es-ES"/>
              <a:t>Se usó un índice de cooperación, mientras más se acerca el valor a cero y los positivos, el resultado tiende a ser mejor. </a:t>
            </a:r>
            <a:r>
              <a:rPr lang="es-ES">
                <a:ea typeface="+mn-lt"/>
                <a:cs typeface="+mn-lt"/>
              </a:rPr>
              <a:t>La cooperación se evalúa mediante una métrica geométrica en base al eje Y que compara la posición promedio de los caballeros con la de los arqueros. Un valor positivo indica que los arqueros se mantienen detrás de los caballeros, reflejando una formación cooperativa tipo tanque–DPS.</a:t>
            </a:r>
            <a:endParaRPr lang="es-ES"/>
          </a:p>
        </p:txBody>
      </p:sp>
      <p:pic>
        <p:nvPicPr>
          <p:cNvPr id="4" name="Imagen 3" descr="Knight - Pixel Game Character">
            <a:extLst>
              <a:ext uri="{FF2B5EF4-FFF2-40B4-BE49-F238E27FC236}">
                <a16:creationId xmlns:a16="http://schemas.microsoft.com/office/drawing/2014/main" id="{2DD1E1CD-1A67-C35B-97D7-6742ECBA96D0}"/>
              </a:ext>
            </a:extLst>
          </p:cNvPr>
          <p:cNvPicPr>
            <a:picLocks noChangeAspect="1"/>
          </p:cNvPicPr>
          <p:nvPr/>
        </p:nvPicPr>
        <p:blipFill>
          <a:blip r:embed="rId2"/>
          <a:stretch>
            <a:fillRect/>
          </a:stretch>
        </p:blipFill>
        <p:spPr>
          <a:xfrm>
            <a:off x="7155179" y="3018344"/>
            <a:ext cx="4375829" cy="3281871"/>
          </a:xfrm>
          <a:prstGeom prst="rect">
            <a:avLst/>
          </a:prstGeom>
        </p:spPr>
      </p:pic>
    </p:spTree>
    <p:extLst>
      <p:ext uri="{BB962C8B-B14F-4D97-AF65-F5344CB8AC3E}">
        <p14:creationId xmlns:p14="http://schemas.microsoft.com/office/powerpoint/2010/main" val="3890253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21DF0D-28F4-5DAA-F701-99FCA5A465A7}"/>
              </a:ext>
            </a:extLst>
          </p:cNvPr>
          <p:cNvSpPr>
            <a:spLocks noGrp="1"/>
          </p:cNvSpPr>
          <p:nvPr>
            <p:ph type="title"/>
          </p:nvPr>
        </p:nvSpPr>
        <p:spPr/>
        <p:txBody>
          <a:bodyPr/>
          <a:lstStyle/>
          <a:p>
            <a:r>
              <a:rPr lang="es-ES"/>
              <a:t>Resultados</a:t>
            </a:r>
          </a:p>
        </p:txBody>
      </p:sp>
      <p:pic>
        <p:nvPicPr>
          <p:cNvPr id="4" name="Marcador de contenido 3">
            <a:extLst>
              <a:ext uri="{FF2B5EF4-FFF2-40B4-BE49-F238E27FC236}">
                <a16:creationId xmlns:a16="http://schemas.microsoft.com/office/drawing/2014/main" id="{B9D3D253-FBD6-FF9A-69F5-CF66F2B8BD34}"/>
              </a:ext>
            </a:extLst>
          </p:cNvPr>
          <p:cNvPicPr>
            <a:picLocks noGrp="1" noChangeAspect="1"/>
          </p:cNvPicPr>
          <p:nvPr>
            <p:ph idx="1"/>
          </p:nvPr>
        </p:nvPicPr>
        <p:blipFill>
          <a:blip r:embed="rId2"/>
          <a:stretch>
            <a:fillRect/>
          </a:stretch>
        </p:blipFill>
        <p:spPr>
          <a:xfrm>
            <a:off x="636186" y="2466574"/>
            <a:ext cx="3067050" cy="1381125"/>
          </a:xfrm>
          <a:prstGeom prst="rect">
            <a:avLst/>
          </a:prstGeom>
        </p:spPr>
      </p:pic>
      <p:sp>
        <p:nvSpPr>
          <p:cNvPr id="5" name="CuadroTexto 4">
            <a:extLst>
              <a:ext uri="{FF2B5EF4-FFF2-40B4-BE49-F238E27FC236}">
                <a16:creationId xmlns:a16="http://schemas.microsoft.com/office/drawing/2014/main" id="{F3694FE9-C4A3-7DE0-31AB-D7D7C3DB8FD0}"/>
              </a:ext>
            </a:extLst>
          </p:cNvPr>
          <p:cNvSpPr txBox="1"/>
          <p:nvPr/>
        </p:nvSpPr>
        <p:spPr>
          <a:xfrm>
            <a:off x="920750" y="411691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s-ES"/>
          </a:p>
        </p:txBody>
      </p:sp>
      <p:sp>
        <p:nvSpPr>
          <p:cNvPr id="6" name="CuadroTexto 5">
            <a:extLst>
              <a:ext uri="{FF2B5EF4-FFF2-40B4-BE49-F238E27FC236}">
                <a16:creationId xmlns:a16="http://schemas.microsoft.com/office/drawing/2014/main" id="{59CA6828-88FC-9DC6-3C5B-DA3035195DDD}"/>
              </a:ext>
            </a:extLst>
          </p:cNvPr>
          <p:cNvSpPr txBox="1"/>
          <p:nvPr/>
        </p:nvSpPr>
        <p:spPr>
          <a:xfrm>
            <a:off x="635000" y="3852333"/>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t>Entrenamiento 1 (8M </a:t>
            </a:r>
            <a:r>
              <a:rPr lang="es-ES" sz="1600" dirty="0" err="1"/>
              <a:t>steps</a:t>
            </a:r>
            <a:r>
              <a:rPr lang="es-ES" sz="1600" dirty="0"/>
              <a:t>)</a:t>
            </a:r>
          </a:p>
        </p:txBody>
      </p:sp>
      <p:pic>
        <p:nvPicPr>
          <p:cNvPr id="7" name="Imagen 6" descr="Texto&#10;&#10;El contenido generado por IA puede ser incorrecto.">
            <a:extLst>
              <a:ext uri="{FF2B5EF4-FFF2-40B4-BE49-F238E27FC236}">
                <a16:creationId xmlns:a16="http://schemas.microsoft.com/office/drawing/2014/main" id="{F0A5A7AE-FD6D-4F5D-0728-7D8B5B28B58A}"/>
              </a:ext>
            </a:extLst>
          </p:cNvPr>
          <p:cNvPicPr>
            <a:picLocks noChangeAspect="1"/>
          </p:cNvPicPr>
          <p:nvPr/>
        </p:nvPicPr>
        <p:blipFill>
          <a:blip r:embed="rId3"/>
          <a:stretch>
            <a:fillRect/>
          </a:stretch>
        </p:blipFill>
        <p:spPr>
          <a:xfrm>
            <a:off x="4098925" y="2473855"/>
            <a:ext cx="3105150" cy="1381125"/>
          </a:xfrm>
          <a:prstGeom prst="rect">
            <a:avLst/>
          </a:prstGeom>
        </p:spPr>
      </p:pic>
      <p:sp>
        <p:nvSpPr>
          <p:cNvPr id="8" name="CuadroTexto 7">
            <a:extLst>
              <a:ext uri="{FF2B5EF4-FFF2-40B4-BE49-F238E27FC236}">
                <a16:creationId xmlns:a16="http://schemas.microsoft.com/office/drawing/2014/main" id="{D0274677-6FF3-C2E0-4B1B-29C5E0188C1D}"/>
              </a:ext>
            </a:extLst>
          </p:cNvPr>
          <p:cNvSpPr txBox="1"/>
          <p:nvPr/>
        </p:nvSpPr>
        <p:spPr>
          <a:xfrm>
            <a:off x="4095750" y="3852333"/>
            <a:ext cx="294428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t>Entrenamiento 2 (16M </a:t>
            </a:r>
            <a:r>
              <a:rPr lang="es-ES" sz="1600" dirty="0" err="1"/>
              <a:t>steps</a:t>
            </a:r>
            <a:r>
              <a:rPr lang="es-ES" sz="1600" dirty="0"/>
              <a:t>)</a:t>
            </a:r>
            <a:endParaRPr lang="es-ES" dirty="0"/>
          </a:p>
        </p:txBody>
      </p:sp>
      <p:pic>
        <p:nvPicPr>
          <p:cNvPr id="9" name="Imagen 8" descr="Texto&#10;&#10;El contenido generado por IA puede ser incorrecto.">
            <a:extLst>
              <a:ext uri="{FF2B5EF4-FFF2-40B4-BE49-F238E27FC236}">
                <a16:creationId xmlns:a16="http://schemas.microsoft.com/office/drawing/2014/main" id="{FC1BB0D8-48C8-8C5B-0905-6DE47A4D743B}"/>
              </a:ext>
            </a:extLst>
          </p:cNvPr>
          <p:cNvPicPr>
            <a:picLocks noChangeAspect="1"/>
          </p:cNvPicPr>
          <p:nvPr/>
        </p:nvPicPr>
        <p:blipFill>
          <a:blip r:embed="rId4"/>
          <a:stretch>
            <a:fillRect/>
          </a:stretch>
        </p:blipFill>
        <p:spPr>
          <a:xfrm>
            <a:off x="8186738" y="2439458"/>
            <a:ext cx="3248025" cy="1428750"/>
          </a:xfrm>
          <a:prstGeom prst="rect">
            <a:avLst/>
          </a:prstGeom>
        </p:spPr>
      </p:pic>
      <p:sp>
        <p:nvSpPr>
          <p:cNvPr id="10" name="CuadroTexto 9">
            <a:extLst>
              <a:ext uri="{FF2B5EF4-FFF2-40B4-BE49-F238E27FC236}">
                <a16:creationId xmlns:a16="http://schemas.microsoft.com/office/drawing/2014/main" id="{12AA97F4-9832-D185-587A-8977427BE905}"/>
              </a:ext>
            </a:extLst>
          </p:cNvPr>
          <p:cNvSpPr txBox="1"/>
          <p:nvPr/>
        </p:nvSpPr>
        <p:spPr>
          <a:xfrm>
            <a:off x="8191499" y="384175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s-ES"/>
          </a:p>
        </p:txBody>
      </p:sp>
      <p:sp>
        <p:nvSpPr>
          <p:cNvPr id="11" name="CuadroTexto 10">
            <a:extLst>
              <a:ext uri="{FF2B5EF4-FFF2-40B4-BE49-F238E27FC236}">
                <a16:creationId xmlns:a16="http://schemas.microsoft.com/office/drawing/2014/main" id="{3E6C89DD-9838-1A40-A3E1-CB97BBB39C23}"/>
              </a:ext>
            </a:extLst>
          </p:cNvPr>
          <p:cNvSpPr txBox="1"/>
          <p:nvPr/>
        </p:nvSpPr>
        <p:spPr>
          <a:xfrm>
            <a:off x="8191500" y="3852333"/>
            <a:ext cx="308186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t>Entrenamiento 3 (24M </a:t>
            </a:r>
            <a:r>
              <a:rPr lang="es-ES" sz="1600" dirty="0" err="1"/>
              <a:t>steps</a:t>
            </a:r>
            <a:r>
              <a:rPr lang="es-ES" sz="1600" dirty="0"/>
              <a:t>)</a:t>
            </a:r>
            <a:endParaRPr lang="es-ES" dirty="0"/>
          </a:p>
        </p:txBody>
      </p:sp>
      <p:pic>
        <p:nvPicPr>
          <p:cNvPr id="12" name="Imagen 11" descr="Texto&#10;&#10;El contenido generado por IA puede ser incorrecto.">
            <a:extLst>
              <a:ext uri="{FF2B5EF4-FFF2-40B4-BE49-F238E27FC236}">
                <a16:creationId xmlns:a16="http://schemas.microsoft.com/office/drawing/2014/main" id="{B2972A3F-A033-435A-D964-90662023B210}"/>
              </a:ext>
            </a:extLst>
          </p:cNvPr>
          <p:cNvPicPr>
            <a:picLocks noChangeAspect="1"/>
          </p:cNvPicPr>
          <p:nvPr/>
        </p:nvPicPr>
        <p:blipFill>
          <a:blip r:embed="rId5"/>
          <a:stretch>
            <a:fillRect/>
          </a:stretch>
        </p:blipFill>
        <p:spPr>
          <a:xfrm>
            <a:off x="2538413" y="4410075"/>
            <a:ext cx="3114675" cy="1466850"/>
          </a:xfrm>
          <a:prstGeom prst="rect">
            <a:avLst/>
          </a:prstGeom>
        </p:spPr>
      </p:pic>
      <p:sp>
        <p:nvSpPr>
          <p:cNvPr id="13" name="CuadroTexto 12">
            <a:extLst>
              <a:ext uri="{FF2B5EF4-FFF2-40B4-BE49-F238E27FC236}">
                <a16:creationId xmlns:a16="http://schemas.microsoft.com/office/drawing/2014/main" id="{831E2047-2AE4-585F-28AC-43B2F35EB701}"/>
              </a:ext>
            </a:extLst>
          </p:cNvPr>
          <p:cNvSpPr txBox="1"/>
          <p:nvPr/>
        </p:nvSpPr>
        <p:spPr>
          <a:xfrm>
            <a:off x="2540000" y="5873749"/>
            <a:ext cx="298661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t>Entrenamiento 4 (32M </a:t>
            </a:r>
            <a:r>
              <a:rPr lang="es-ES" sz="1600" dirty="0" err="1"/>
              <a:t>steps</a:t>
            </a:r>
            <a:r>
              <a:rPr lang="es-ES" sz="1600" dirty="0"/>
              <a:t>)</a:t>
            </a:r>
            <a:endParaRPr lang="es-ES" dirty="0"/>
          </a:p>
        </p:txBody>
      </p:sp>
      <p:pic>
        <p:nvPicPr>
          <p:cNvPr id="14" name="Imagen 13" descr="Texto&#10;&#10;El contenido generado por IA puede ser incorrecto.">
            <a:extLst>
              <a:ext uri="{FF2B5EF4-FFF2-40B4-BE49-F238E27FC236}">
                <a16:creationId xmlns:a16="http://schemas.microsoft.com/office/drawing/2014/main" id="{740B03F4-98B7-3708-1C7D-BF067BBE3BAE}"/>
              </a:ext>
            </a:extLst>
          </p:cNvPr>
          <p:cNvPicPr>
            <a:picLocks noChangeAspect="1"/>
          </p:cNvPicPr>
          <p:nvPr/>
        </p:nvPicPr>
        <p:blipFill>
          <a:blip r:embed="rId6"/>
          <a:stretch>
            <a:fillRect/>
          </a:stretch>
        </p:blipFill>
        <p:spPr>
          <a:xfrm>
            <a:off x="6665913" y="4500033"/>
            <a:ext cx="3305175" cy="1371600"/>
          </a:xfrm>
          <a:prstGeom prst="rect">
            <a:avLst/>
          </a:prstGeom>
        </p:spPr>
      </p:pic>
      <p:sp>
        <p:nvSpPr>
          <p:cNvPr id="15" name="CuadroTexto 14">
            <a:extLst>
              <a:ext uri="{FF2B5EF4-FFF2-40B4-BE49-F238E27FC236}">
                <a16:creationId xmlns:a16="http://schemas.microsoft.com/office/drawing/2014/main" id="{86725D23-63F7-D6D9-E6D6-3A49AE678199}"/>
              </a:ext>
            </a:extLst>
          </p:cNvPr>
          <p:cNvSpPr txBox="1"/>
          <p:nvPr/>
        </p:nvSpPr>
        <p:spPr>
          <a:xfrm>
            <a:off x="6667500" y="5873749"/>
            <a:ext cx="298661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t>Entrenamiento 5 (40M </a:t>
            </a:r>
            <a:r>
              <a:rPr lang="es-ES" sz="1600" dirty="0" err="1"/>
              <a:t>steps</a:t>
            </a:r>
            <a:r>
              <a:rPr lang="es-ES" sz="1600" dirty="0"/>
              <a:t>)</a:t>
            </a:r>
            <a:endParaRPr lang="es-ES" dirty="0"/>
          </a:p>
        </p:txBody>
      </p:sp>
    </p:spTree>
    <p:extLst>
      <p:ext uri="{BB962C8B-B14F-4D97-AF65-F5344CB8AC3E}">
        <p14:creationId xmlns:p14="http://schemas.microsoft.com/office/powerpoint/2010/main" val="33631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8CBA6-8C97-2924-764D-F7886D74CE7B}"/>
              </a:ext>
            </a:extLst>
          </p:cNvPr>
          <p:cNvSpPr>
            <a:spLocks noGrp="1"/>
          </p:cNvSpPr>
          <p:nvPr>
            <p:ph type="title"/>
          </p:nvPr>
        </p:nvSpPr>
        <p:spPr/>
        <p:txBody>
          <a:bodyPr/>
          <a:lstStyle/>
          <a:p>
            <a:r>
              <a:rPr lang="es-ES"/>
              <a:t>Análisis de Resultados</a:t>
            </a:r>
          </a:p>
        </p:txBody>
      </p:sp>
      <p:sp>
        <p:nvSpPr>
          <p:cNvPr id="3" name="Marcador de contenido 2">
            <a:extLst>
              <a:ext uri="{FF2B5EF4-FFF2-40B4-BE49-F238E27FC236}">
                <a16:creationId xmlns:a16="http://schemas.microsoft.com/office/drawing/2014/main" id="{865CBB50-75CB-E249-2142-DC67EC709F23}"/>
              </a:ext>
            </a:extLst>
          </p:cNvPr>
          <p:cNvSpPr>
            <a:spLocks noGrp="1"/>
          </p:cNvSpPr>
          <p:nvPr>
            <p:ph idx="1"/>
          </p:nvPr>
        </p:nvSpPr>
        <p:spPr/>
        <p:txBody>
          <a:bodyPr vert="horz" lIns="91440" tIns="45720" rIns="91440" bIns="45720" rtlCol="0" anchor="t">
            <a:normAutofit/>
          </a:bodyPr>
          <a:lstStyle/>
          <a:p>
            <a:pPr algn="just"/>
            <a:r>
              <a:rPr lang="es-ES" dirty="0"/>
              <a:t>De los resultados conseguidos, podemos ver que el índice de cooperación poco a poco va mejorando, con el último entrenamiento vemos una mejor estabilización de los resultados, de lo cual podemos deducir que, si bien, este problema es bastante complejo (Pues se usan múltiples agentes los cuales deben cooperar entre ellos), es algo que podría eventualmente funcionar, sin embargo, requerirá muchas más sesiones de entrenamiento, y probablemente un mejor </a:t>
            </a:r>
            <a:r>
              <a:rPr lang="es-ES" dirty="0" err="1"/>
              <a:t>reward</a:t>
            </a:r>
            <a:r>
              <a:rPr lang="es-ES" dirty="0"/>
              <a:t> </a:t>
            </a:r>
            <a:r>
              <a:rPr lang="es-ES" dirty="0" err="1"/>
              <a:t>shaping</a:t>
            </a:r>
            <a:r>
              <a:rPr lang="es-ES" dirty="0"/>
              <a:t> también.</a:t>
            </a:r>
            <a:endParaRPr lang="es-ES"/>
          </a:p>
        </p:txBody>
      </p:sp>
    </p:spTree>
    <p:extLst>
      <p:ext uri="{BB962C8B-B14F-4D97-AF65-F5344CB8AC3E}">
        <p14:creationId xmlns:p14="http://schemas.microsoft.com/office/powerpoint/2010/main" val="3758799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53AEAF2-92E8-834A-6577-C814C457FE6F}"/>
              </a:ext>
            </a:extLst>
          </p:cNvPr>
          <p:cNvSpPr>
            <a:spLocks noGrp="1"/>
          </p:cNvSpPr>
          <p:nvPr>
            <p:ph type="title"/>
          </p:nvPr>
        </p:nvSpPr>
        <p:spPr>
          <a:xfrm>
            <a:off x="640080" y="1371600"/>
            <a:ext cx="3677920" cy="3919267"/>
          </a:xfrm>
        </p:spPr>
        <p:txBody>
          <a:bodyPr anchor="t">
            <a:normAutofit/>
          </a:bodyPr>
          <a:lstStyle/>
          <a:p>
            <a:r>
              <a:rPr lang="es-ES"/>
              <a:t>Problemas</a:t>
            </a:r>
          </a:p>
        </p:txBody>
      </p:sp>
      <p:cxnSp>
        <p:nvCxnSpPr>
          <p:cNvPr id="11" name="Straight Connector 10">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Marcador de contenido 2">
            <a:extLst>
              <a:ext uri="{FF2B5EF4-FFF2-40B4-BE49-F238E27FC236}">
                <a16:creationId xmlns:a16="http://schemas.microsoft.com/office/drawing/2014/main" id="{EF3C14D3-8FA7-4779-CCA7-0A55D94CDF25}"/>
              </a:ext>
            </a:extLst>
          </p:cNvPr>
          <p:cNvGraphicFramePr>
            <a:graphicFrameLocks noGrp="1"/>
          </p:cNvGraphicFramePr>
          <p:nvPr>
            <p:ph idx="1"/>
            <p:extLst>
              <p:ext uri="{D42A27DB-BD31-4B8C-83A1-F6EECF244321}">
                <p14:modId xmlns:p14="http://schemas.microsoft.com/office/powerpoint/2010/main" val="2284079956"/>
              </p:ext>
            </p:extLst>
          </p:nvPr>
        </p:nvGraphicFramePr>
        <p:xfrm>
          <a:off x="4035651" y="599017"/>
          <a:ext cx="7495357" cy="56989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3439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CA171B-D5FA-351C-9C84-72860C73B195}"/>
              </a:ext>
            </a:extLst>
          </p:cNvPr>
          <p:cNvSpPr>
            <a:spLocks noGrp="1"/>
          </p:cNvSpPr>
          <p:nvPr>
            <p:ph type="title"/>
          </p:nvPr>
        </p:nvSpPr>
        <p:spPr/>
        <p:txBody>
          <a:bodyPr/>
          <a:lstStyle/>
          <a:p>
            <a:r>
              <a:rPr lang="es-ES"/>
              <a:t>Conclusiones</a:t>
            </a:r>
          </a:p>
        </p:txBody>
      </p:sp>
      <p:sp>
        <p:nvSpPr>
          <p:cNvPr id="3" name="Marcador de contenido 2">
            <a:extLst>
              <a:ext uri="{FF2B5EF4-FFF2-40B4-BE49-F238E27FC236}">
                <a16:creationId xmlns:a16="http://schemas.microsoft.com/office/drawing/2014/main" id="{5959006B-C093-7F0C-EE9D-3B5DB7DD4117}"/>
              </a:ext>
            </a:extLst>
          </p:cNvPr>
          <p:cNvSpPr>
            <a:spLocks noGrp="1"/>
          </p:cNvSpPr>
          <p:nvPr>
            <p:ph idx="1"/>
          </p:nvPr>
        </p:nvSpPr>
        <p:spPr>
          <a:xfrm>
            <a:off x="640080" y="2114664"/>
            <a:ext cx="10890928" cy="4084968"/>
          </a:xfrm>
        </p:spPr>
        <p:txBody>
          <a:bodyPr vert="horz" lIns="91440" tIns="45720" rIns="91440" bIns="45720" rtlCol="0" anchor="t">
            <a:normAutofit/>
          </a:bodyPr>
          <a:lstStyle/>
          <a:p>
            <a:pPr algn="just"/>
            <a:r>
              <a:rPr lang="es-ES" dirty="0"/>
              <a:t>El método probado parece estar funcionando, sin </a:t>
            </a:r>
            <a:r>
              <a:rPr lang="es-ES"/>
              <a:t>embargo,</a:t>
            </a:r>
            <a:r>
              <a:rPr lang="es-ES" dirty="0"/>
              <a:t> requiere mucho más entrenamiento.</a:t>
            </a:r>
            <a:endParaRPr lang="es-ES"/>
          </a:p>
          <a:p>
            <a:pPr algn="just"/>
            <a:r>
              <a:rPr lang="es-ES" dirty="0"/>
              <a:t>Solo uno de los caballeros entendió </a:t>
            </a:r>
            <a:r>
              <a:rPr lang="es-ES"/>
              <a:t>bien</a:t>
            </a:r>
            <a:r>
              <a:rPr lang="es-ES" dirty="0"/>
              <a:t> al parecer, por lo que hay que tratar de replicar el </a:t>
            </a:r>
            <a:r>
              <a:rPr lang="es-ES"/>
              <a:t>caballero que si entendió en el que no entendió. Esto podría lograrse sencillamente entrenando más.</a:t>
            </a:r>
          </a:p>
          <a:p>
            <a:pPr algn="just"/>
            <a:r>
              <a:rPr lang="es-ES" dirty="0"/>
              <a:t>Tal vez sería mejor implementar una </a:t>
            </a:r>
            <a:r>
              <a:rPr lang="es-ES" dirty="0" err="1"/>
              <a:t>Centralized</a:t>
            </a:r>
            <a:r>
              <a:rPr lang="es-ES" dirty="0"/>
              <a:t> </a:t>
            </a:r>
            <a:r>
              <a:rPr lang="es-ES" dirty="0" err="1"/>
              <a:t>Critic</a:t>
            </a:r>
            <a:r>
              <a:rPr lang="es-ES" dirty="0"/>
              <a:t> o un </a:t>
            </a:r>
            <a:r>
              <a:rPr lang="es-ES" dirty="0" err="1"/>
              <a:t>Parameter</a:t>
            </a:r>
            <a:r>
              <a:rPr lang="es-ES" dirty="0"/>
              <a:t> </a:t>
            </a:r>
            <a:r>
              <a:rPr lang="es-ES" dirty="0" err="1"/>
              <a:t>Sharing</a:t>
            </a:r>
            <a:r>
              <a:rPr lang="es-ES" dirty="0"/>
              <a:t>, para tener en cuenta a futuro.</a:t>
            </a:r>
          </a:p>
          <a:p>
            <a:pPr algn="just"/>
            <a:r>
              <a:rPr lang="es-ES" dirty="0">
                <a:ea typeface="+mn-lt"/>
                <a:cs typeface="+mn-lt"/>
              </a:rPr>
              <a:t>El proyecto muestra que en MARL la cooperación no emerge súbitamente; debe ser incentivada explícitamente mediante </a:t>
            </a:r>
            <a:r>
              <a:rPr lang="es-ES" dirty="0" err="1">
                <a:ea typeface="+mn-lt"/>
                <a:cs typeface="+mn-lt"/>
              </a:rPr>
              <a:t>reward</a:t>
            </a:r>
            <a:r>
              <a:rPr lang="es-ES" dirty="0">
                <a:ea typeface="+mn-lt"/>
                <a:cs typeface="+mn-lt"/>
              </a:rPr>
              <a:t> </a:t>
            </a:r>
            <a:r>
              <a:rPr lang="es-ES" dirty="0" err="1">
                <a:ea typeface="+mn-lt"/>
                <a:cs typeface="+mn-lt"/>
              </a:rPr>
              <a:t>design</a:t>
            </a:r>
            <a:r>
              <a:rPr lang="es-ES" dirty="0">
                <a:ea typeface="+mn-lt"/>
                <a:cs typeface="+mn-lt"/>
              </a:rPr>
              <a:t> o arquitecturas centralizadas.</a:t>
            </a:r>
            <a:endParaRPr lang="es-ES" dirty="0"/>
          </a:p>
        </p:txBody>
      </p:sp>
    </p:spTree>
    <p:extLst>
      <p:ext uri="{BB962C8B-B14F-4D97-AF65-F5344CB8AC3E}">
        <p14:creationId xmlns:p14="http://schemas.microsoft.com/office/powerpoint/2010/main" val="11666545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9</Slides>
  <Notes>0</Notes>
  <HiddenSlides>0</HiddenSlides>
  <MMClips>0</MMClip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DashVTI</vt:lpstr>
      <vt:lpstr>Presentación Final Proyecto Aprendizaje Por Refuerzo</vt:lpstr>
      <vt:lpstr>Resumen del Problema </vt:lpstr>
      <vt:lpstr>Descripción de la implementación</vt:lpstr>
      <vt:lpstr>Cuadro Comparativo</vt:lpstr>
      <vt:lpstr>Resultados</vt:lpstr>
      <vt:lpstr>Resultados</vt:lpstr>
      <vt:lpstr>Análisis de Resultados</vt:lpstr>
      <vt:lpstr>Problemas</vt:lpstr>
      <vt:lpstr>Conclusiones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230</cp:revision>
  <dcterms:created xsi:type="dcterms:W3CDTF">2025-12-18T01:35:34Z</dcterms:created>
  <dcterms:modified xsi:type="dcterms:W3CDTF">2025-12-18T22:00:34Z</dcterms:modified>
</cp:coreProperties>
</file>